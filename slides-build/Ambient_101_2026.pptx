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Intro yourself (2 min). One line on last year: we did this in code; this year we skip straight to making sound. Whole class builds to a laptop orchestra finale.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Goal: buy-in and a destination. Don't teach mechanics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What ambient IS — Eno, music as a place, not a song. Plays in airports, you don't have to listen to it, but it rewards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THIS is the thesis of the whole class. Read it aloud. Underline 'incommensurable' and 'not likely to come back into sync.' Everything in Act 2 explains why that produces music.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FIRST DEMO, from the projector only. Load the 'airports' ensemble, let the loops drift. Don't explain mechanics — just let them hear it. PLANT THE FLAG: by the end, every laptop here is one of these loops and we'll play the piece together. Do NOT share the URL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The payoff to set up Act 2: simple mechanical parts produce something that sounds human and intentional. Next we explain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Levity. Yes, there's math — but it's the fun kind, and the app does it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Skip the Fundamental Theorem title — just the intuition. 9 = 3x3, 10 = 2x5. They share NO prime factors -&gt; coprime. Coprime is the whole secret.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Two tapes of coprime length only realign after length(A) x length(B) beats. Short loops, enormous combined cycle. This is Eno's 'not likely to come back into sync.'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The combined output never quite repeats within earshot, so it sounds composed / alive even though every part is dead simple and looping. That illusion is the whole genre.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 TIMEBOX, and this is the slide you CUT if running long. Quick fun rant on Enigma/codebreaking. Land the payoff: this is literally why we built computers (Turing, Bletchley), and the whole point was pseudorandomness — same as 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Moiré images = what phasing PRODUCES. Play the Piano Phase video. Then DEMO phasing in the app's TIMELINE VIEW (from the front) — tapes of different lengths scrolling past one playhead, drifting in/out of alignment. Better visual than moiré for the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THE best idea in the deck — use it as the pivot from rhythm to pitch. Everything you just saw about cycles drifting? Pitch is the same phenomenon, just much faster. A rhythm sped up enough becomes a pitch. Rhythm=Pitch, BPM=Hz.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 APPENDIX. Only do this block if time AND energy are high. Nothing here maps to a control they'll turn in the app, so it's the safest cut. Waveforms, octave/fifth overlays, 12-TET, 2^(7/12)=1.498. Keep slides from old deck if you want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The visceral A/B. In the app: set scale = chromatic (all 12 notes available) and paint a few random notes — sounds jarring/random. Then switch to a scale (e.g. minor) — the SAME painting suddenly sounds intentional. This is the entire reason scales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A scale is a recipe of steps; a key is that recipe started on a chosen note (the tonic / home). Major = W W H W W W H. Same shape, slid to any starting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C major and A minor use the exact same notes — only the home note differs. Same palette, different mood. (Circle of fifths optional if you want to go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min. NOW share the URL (not before). Put it big on screen. This is where the room takes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Walk the interface from the projector before they wander. One reel row: tape dial (length = the phasing knob), fill, root + scale, the grid. Show start/stop. Keep it to the essentials.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makes one loop. You float and help. Encourage sparse — fewer notes sound more 'ambient'.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they hear Act 2a with their own ears. Two loops, different lengths, drifting. Call back to the airports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Narrow each laptop to ONE loop for the finale. One audible loop per laptop so the room reads as N voices, not N x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THE moment. One loop per laptop, all playing. You conduct from the front: set a shared global root + scale so the room is in one key, nudge global pace, let it drift. This is the laptop orchestra. End the class on this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Close on Eno: the math sets it up, but YOUR ear is the final judge. Thank them. Put the app URL + your contact on screen (edit the placeholder).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Outro / contact. Fill in real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548640" y="1554480"/>
            <a:ext cx="8046720" cy="1005840"/>
          </a:xfrm>
          <a:prstGeom prst="rect">
            <a:avLst/>
          </a:prstGeom>
          <a:noFill/>
          <a:ln/>
        </p:spPr>
        <p:txBody>
          <a:bodyPr wrap="square" lIns="0" tIns="0" rIns="0" bIns="0" rtlCol="0" anchor="ctr"/>
          <a:lstStyle/>
          <a:p>
            <a:pPr algn="ctr" indent="0" marL="0">
              <a:buNone/>
            </a:pPr>
            <a:r>
              <a:rPr lang="en-US" sz="6000" b="1" dirty="0">
                <a:solidFill>
                  <a:srgbClr val="ECECEC"/>
                </a:solidFill>
                <a:latin typeface="Consolas" pitchFamily="34" charset="0"/>
                <a:ea typeface="Consolas" pitchFamily="34" charset="-122"/>
                <a:cs typeface="Consolas" pitchFamily="34" charset="-120"/>
              </a:rPr>
              <a:t>AMBIENT</a:t>
            </a:r>
            <a:pPr algn="ctr" indent="0" marL="0">
              <a:buNone/>
            </a:pPr>
            <a:r>
              <a:rPr lang="en-US" sz="6000" dirty="0">
                <a:solidFill>
                  <a:srgbClr val="8A8A8A"/>
                </a:solidFill>
                <a:latin typeface="Consolas" pitchFamily="34" charset="0"/>
                <a:ea typeface="Consolas" pitchFamily="34" charset="-122"/>
                <a:cs typeface="Consolas" pitchFamily="34" charset="-120"/>
              </a:rPr>
              <a:t> 101</a:t>
            </a:r>
            <a:endParaRPr lang="en-US" sz="6000" dirty="0"/>
          </a:p>
        </p:txBody>
      </p:sp>
      <p:sp>
        <p:nvSpPr>
          <p:cNvPr id="4" name="Text 1"/>
          <p:cNvSpPr/>
          <p:nvPr/>
        </p:nvSpPr>
        <p:spPr>
          <a:xfrm>
            <a:off x="457200" y="2606040"/>
            <a:ext cx="8229600" cy="457200"/>
          </a:xfrm>
          <a:prstGeom prst="rect">
            <a:avLst/>
          </a:prstGeom>
          <a:noFill/>
          <a:ln/>
        </p:spPr>
        <p:txBody>
          <a:bodyPr wrap="square" lIns="0" tIns="0" rIns="0" bIns="0" rtlCol="0" anchor="ctr"/>
          <a:lstStyle/>
          <a:p>
            <a:pPr algn="ctr" indent="0" marL="0">
              <a:buNone/>
            </a:pPr>
            <a:r>
              <a:rPr lang="en-US" sz="2000" spc="300" kern="0" dirty="0">
                <a:solidFill>
                  <a:srgbClr val="8FCB9B"/>
                </a:solidFill>
                <a:latin typeface="Consolas" pitchFamily="34" charset="0"/>
                <a:ea typeface="Consolas" pitchFamily="34" charset="-122"/>
                <a:cs typeface="Consolas" pitchFamily="34" charset="-120"/>
              </a:rPr>
              <a:t>MUSIC FOR USB PORTS</a:t>
            </a:r>
            <a:endParaRPr lang="en-US" sz="2000" dirty="0"/>
          </a:p>
        </p:txBody>
      </p:sp>
      <p:sp>
        <p:nvSpPr>
          <p:cNvPr id="5" name="Text 2"/>
          <p:cNvSpPr/>
          <p:nvPr/>
        </p:nvSpPr>
        <p:spPr>
          <a:xfrm>
            <a:off x="457200" y="3154680"/>
            <a:ext cx="8229600" cy="457200"/>
          </a:xfrm>
          <a:prstGeom prst="rect">
            <a:avLst/>
          </a:prstGeom>
          <a:noFill/>
          <a:ln/>
        </p:spPr>
        <p:txBody>
          <a:bodyPr wrap="square" lIns="0" tIns="0" rIns="0" bIns="0" rtlCol="0" anchor="ctr"/>
          <a:lstStyle/>
          <a:p>
            <a:pPr algn="ctr" indent="0" marL="0">
              <a:buNone/>
            </a:pPr>
            <a:r>
              <a:rPr lang="en-US" sz="1500" dirty="0">
                <a:solidFill>
                  <a:srgbClr val="8A8A8A"/>
                </a:solidFill>
                <a:latin typeface="Consolas" pitchFamily="34" charset="0"/>
                <a:ea typeface="Consolas" pitchFamily="34" charset="-122"/>
                <a:cs typeface="Consolas" pitchFamily="34" charset="-120"/>
              </a:rPr>
              <a:t>making music — without the code</a:t>
            </a:r>
            <a:endParaRPr lang="en-US" sz="1500" dirty="0"/>
          </a:p>
        </p:txBody>
      </p:sp>
      <p:sp>
        <p:nvSpPr>
          <p:cNvPr id="6" name="Text 3"/>
          <p:cNvSpPr/>
          <p:nvPr/>
        </p:nvSpPr>
        <p:spPr>
          <a:xfrm>
            <a:off x="457200" y="4297680"/>
            <a:ext cx="8229600" cy="365760"/>
          </a:xfrm>
          <a:prstGeom prst="rect">
            <a:avLst/>
          </a:prstGeom>
          <a:noFill/>
          <a:ln/>
        </p:spPr>
        <p:txBody>
          <a:bodyPr wrap="square" lIns="0" tIns="0" rIns="0" bIns="0" rtlCol="0" anchor="ctr"/>
          <a:lstStyle/>
          <a:p>
            <a:pPr algn="ctr" indent="0" marL="0">
              <a:buNone/>
            </a:pPr>
            <a:r>
              <a:rPr lang="en-US" sz="1200" dirty="0">
                <a:solidFill>
                  <a:srgbClr val="8A8A8A"/>
                </a:solidFill>
                <a:latin typeface="Consolas" pitchFamily="34" charset="0"/>
                <a:ea typeface="Consolas" pitchFamily="34" charset="-122"/>
                <a:cs typeface="Consolas" pitchFamily="34" charset="-120"/>
              </a:rPr>
              <a:t>ITP Camp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457200" y="1371600"/>
            <a:ext cx="8229600" cy="548640"/>
          </a:xfrm>
          <a:prstGeom prst="rect">
            <a:avLst/>
          </a:prstGeom>
          <a:noFill/>
          <a:ln/>
        </p:spPr>
        <p:txBody>
          <a:bodyPr wrap="square" lIns="0" tIns="0" rIns="0" bIns="0" rtlCol="0" anchor="ctr"/>
          <a:lstStyle/>
          <a:p>
            <a:pPr algn="ctr" indent="0" marL="0">
              <a:buNone/>
            </a:pPr>
            <a:r>
              <a:rPr lang="en-US" sz="1800" spc="600" kern="0" dirty="0">
                <a:solidFill>
                  <a:srgbClr val="8A8A8A"/>
                </a:solidFill>
                <a:latin typeface="Consolas" pitchFamily="34" charset="0"/>
                <a:ea typeface="Consolas" pitchFamily="34" charset="-122"/>
                <a:cs typeface="Consolas" pitchFamily="34" charset="-120"/>
              </a:rPr>
              <a:t>ACT 1</a:t>
            </a:r>
            <a:endParaRPr lang="en-US" sz="1800" dirty="0"/>
          </a:p>
        </p:txBody>
      </p:sp>
      <p:sp>
        <p:nvSpPr>
          <p:cNvPr id="4" name="Text 1"/>
          <p:cNvSpPr/>
          <p:nvPr/>
        </p:nvSpPr>
        <p:spPr>
          <a:xfrm>
            <a:off x="457200" y="1920240"/>
            <a:ext cx="8229600" cy="1097280"/>
          </a:xfrm>
          <a:prstGeom prst="rect">
            <a:avLst/>
          </a:prstGeom>
          <a:noFill/>
          <a:ln/>
        </p:spPr>
        <p:txBody>
          <a:bodyPr wrap="square" lIns="0" tIns="0" rIns="0" bIns="0" rtlCol="0" anchor="ctr"/>
          <a:lstStyle/>
          <a:p>
            <a:pPr algn="ctr" indent="0" marL="0">
              <a:buNone/>
            </a:pPr>
            <a:r>
              <a:rPr lang="en-US" sz="5400" b="1" dirty="0">
                <a:solidFill>
                  <a:srgbClr val="ECECEC"/>
                </a:solidFill>
                <a:latin typeface="Consolas" pitchFamily="34" charset="0"/>
                <a:ea typeface="Consolas" pitchFamily="34" charset="-122"/>
                <a:cs typeface="Consolas" pitchFamily="34" charset="-120"/>
              </a:rPr>
              <a:t>LISTEN</a:t>
            </a:r>
            <a:endParaRPr lang="en-US" sz="5400" dirty="0"/>
          </a:p>
        </p:txBody>
      </p:sp>
      <p:sp>
        <p:nvSpPr>
          <p:cNvPr id="5" name="Text 2"/>
          <p:cNvSpPr/>
          <p:nvPr/>
        </p:nvSpPr>
        <p:spPr>
          <a:xfrm>
            <a:off x="457200" y="3108960"/>
            <a:ext cx="8229600" cy="548640"/>
          </a:xfrm>
          <a:prstGeom prst="rect">
            <a:avLst/>
          </a:prstGeom>
          <a:noFill/>
          <a:ln/>
        </p:spPr>
        <p:txBody>
          <a:bodyPr wrap="square" lIns="0" tIns="0" rIns="0" bIns="0" rtlCol="0" anchor="ctr"/>
          <a:lstStyle/>
          <a:p>
            <a:pPr algn="ctr" indent="0" marL="0">
              <a:buNone/>
            </a:pPr>
            <a:r>
              <a:rPr lang="en-US" sz="1600" dirty="0">
                <a:solidFill>
                  <a:srgbClr val="8FCB9B"/>
                </a:solidFill>
                <a:latin typeface="Consolas" pitchFamily="34" charset="0"/>
                <a:ea typeface="Consolas" pitchFamily="34" charset="-122"/>
                <a:cs typeface="Consolas" pitchFamily="34" charset="-120"/>
              </a:rPr>
              <a:t>get your ears open · see where we're going</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457200" y="411480"/>
            <a:ext cx="8229600" cy="365760"/>
          </a:xfrm>
          <a:prstGeom prst="rect">
            <a:avLst/>
          </a:prstGeom>
          <a:noFill/>
          <a:ln/>
        </p:spPr>
        <p:txBody>
          <a:bodyPr wrap="square" lIns="0" tIns="0" rIns="0" bIns="0" rtlCol="0" anchor="ctr"/>
          <a:lstStyle/>
          <a:p>
            <a:pPr algn="l" indent="0" marL="0">
              <a:buNone/>
            </a:pPr>
            <a:r>
              <a:rPr lang="en-US" sz="1300" spc="200" kern="0" dirty="0">
                <a:solidFill>
                  <a:srgbClr val="8A8A8A"/>
                </a:solidFill>
                <a:latin typeface="Consolas" pitchFamily="34" charset="0"/>
                <a:ea typeface="Consolas" pitchFamily="34" charset="-122"/>
                <a:cs typeface="Consolas" pitchFamily="34" charset="-120"/>
              </a:rPr>
              <a:t>1978 · BRIAN ENO</a:t>
            </a:r>
            <a:endParaRPr lang="en-US" sz="1300" dirty="0"/>
          </a:p>
        </p:txBody>
      </p:sp>
      <p:sp>
        <p:nvSpPr>
          <p:cNvPr id="4" name="Text 1"/>
          <p:cNvSpPr/>
          <p:nvPr/>
        </p:nvSpPr>
        <p:spPr>
          <a:xfrm>
            <a:off x="457200" y="914400"/>
            <a:ext cx="8229600" cy="1280160"/>
          </a:xfrm>
          <a:prstGeom prst="rect">
            <a:avLst/>
          </a:prstGeom>
          <a:noFill/>
          <a:ln/>
        </p:spPr>
        <p:txBody>
          <a:bodyPr wrap="square" lIns="0" tIns="0" rIns="0" bIns="0" rtlCol="0" anchor="ctr"/>
          <a:lstStyle/>
          <a:p>
            <a:pPr algn="ctr" indent="0" marL="0">
              <a:buNone/>
            </a:pPr>
            <a:r>
              <a:rPr lang="en-US" sz="3000" b="1" dirty="0">
                <a:solidFill>
                  <a:srgbClr val="ECECEC"/>
                </a:solidFill>
                <a:latin typeface="Consolas" pitchFamily="34" charset="0"/>
                <a:ea typeface="Consolas" pitchFamily="34" charset="-122"/>
                <a:cs typeface="Consolas" pitchFamily="34" charset="-120"/>
              </a:rPr>
              <a:t>Ambient 1: Music for Airports</a:t>
            </a:r>
            <a:endParaRPr lang="en-US" sz="3000" dirty="0"/>
          </a:p>
        </p:txBody>
      </p:sp>
      <p:sp>
        <p:nvSpPr>
          <p:cNvPr id="5" name="Shape 2"/>
          <p:cNvSpPr/>
          <p:nvPr/>
        </p:nvSpPr>
        <p:spPr>
          <a:xfrm>
            <a:off x="2743200" y="1737360"/>
            <a:ext cx="3657600" cy="2743200"/>
          </a:xfrm>
          <a:prstGeom prst="rect">
            <a:avLst/>
          </a:prstGeom>
          <a:solidFill>
            <a:srgbClr val="242424"/>
          </a:solidFill>
          <a:ln w="12700">
            <a:solidFill>
              <a:srgbClr val="454545"/>
            </a:solidFill>
            <a:prstDash val="dash"/>
          </a:ln>
        </p:spPr>
      </p:sp>
      <p:sp>
        <p:nvSpPr>
          <p:cNvPr id="6" name="Text 3"/>
          <p:cNvSpPr/>
          <p:nvPr/>
        </p:nvSpPr>
        <p:spPr>
          <a:xfrm>
            <a:off x="2834640" y="1737360"/>
            <a:ext cx="3474720" cy="2743200"/>
          </a:xfrm>
          <a:prstGeom prst="rect">
            <a:avLst/>
          </a:prstGeom>
          <a:noFill/>
          <a:ln/>
        </p:spPr>
        <p:txBody>
          <a:bodyPr wrap="square" lIns="0" tIns="0" rIns="0" bIns="0" rtlCol="0" anchor="ctr"/>
          <a:lstStyle/>
          <a:p>
            <a:pPr algn="ctr" indent="0" marL="0">
              <a:buNone/>
            </a:pPr>
            <a:r>
              <a:rPr lang="en-US" sz="1400" dirty="0">
                <a:solidFill>
                  <a:srgbClr val="8A8A8A"/>
                </a:solidFill>
                <a:latin typeface="Consolas" pitchFamily="34" charset="0"/>
                <a:ea typeface="Consolas" pitchFamily="34" charset="-122"/>
                <a:cs typeface="Consolas" pitchFamily="34" charset="-120"/>
              </a:rPr>
              <a:t>[ Music for Airports album cover ]</a:t>
            </a:r>
            <a:endParaRPr lang="en-US" sz="1400" dirty="0"/>
          </a:p>
        </p:txBody>
      </p:sp>
      <p:sp>
        <p:nvSpPr>
          <p:cNvPr id="7" name="Text 4"/>
          <p:cNvSpPr/>
          <p:nvPr/>
        </p:nvSpPr>
        <p:spPr>
          <a:xfrm>
            <a:off x="457200" y="4572000"/>
            <a:ext cx="8229600" cy="365760"/>
          </a:xfrm>
          <a:prstGeom prst="rect">
            <a:avLst/>
          </a:prstGeom>
          <a:noFill/>
          <a:ln/>
        </p:spPr>
        <p:txBody>
          <a:bodyPr wrap="square" lIns="0" tIns="0" rIns="0" bIns="0" rtlCol="0" anchor="ctr"/>
          <a:lstStyle/>
          <a:p>
            <a:pPr algn="ctr" indent="0" marL="0">
              <a:buNone/>
            </a:pPr>
            <a:r>
              <a:rPr lang="en-US" sz="1400" dirty="0">
                <a:solidFill>
                  <a:srgbClr val="8FCB9B"/>
                </a:solidFill>
                <a:latin typeface="Consolas" pitchFamily="34" charset="0"/>
                <a:ea typeface="Consolas" pitchFamily="34" charset="-122"/>
                <a:cs typeface="Consolas" pitchFamily="34" charset="-120"/>
              </a:rPr>
              <a:t>music as a place you're in — not a song you follow</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1A"/>
        </a:solidFill>
      </p:bgPr>
    </p:bg>
    <p:spTree>
      <p:nvGrpSpPr>
        <p:cNvPr id="1" name=""/>
        <p:cNvGrpSpPr/>
        <p:nvPr/>
      </p:nvGrpSpPr>
      <p:grpSpPr>
        <a:xfrm>
          <a:off x="0" y="0"/>
          <a:ext cx="0" cy="0"/>
          <a:chOff x="0" y="0"/>
          <a:chExt cx="0" cy="0"/>
        </a:xfrm>
      </p:grpSpPr>
      <p:sp>
        <p:nvSpPr>
          <p:cNvPr id="3" name="Shape 0"/>
          <p:cNvSpPr/>
          <p:nvPr/>
        </p:nvSpPr>
        <p:spPr>
          <a:xfrm>
            <a:off x="640080" y="731520"/>
            <a:ext cx="5212080" cy="3657600"/>
          </a:xfrm>
          <a:prstGeom prst="rect">
            <a:avLst/>
          </a:prstGeom>
          <a:solidFill>
            <a:srgbClr val="E6E6E6"/>
          </a:solidFill>
          <a:ln/>
        </p:spPr>
      </p:sp>
      <p:sp>
        <p:nvSpPr>
          <p:cNvPr id="4" name="Text 1"/>
          <p:cNvSpPr/>
          <p:nvPr/>
        </p:nvSpPr>
        <p:spPr>
          <a:xfrm>
            <a:off x="868680" y="914400"/>
            <a:ext cx="4754880" cy="3291840"/>
          </a:xfrm>
          <a:prstGeom prst="rect">
            <a:avLst/>
          </a:prstGeom>
          <a:noFill/>
          <a:ln/>
        </p:spPr>
        <p:txBody>
          <a:bodyPr wrap="square" lIns="0" tIns="0" rIns="0" bIns="0" rtlCol="0" anchor="ctr"/>
          <a:lstStyle/>
          <a:p>
            <a:pPr algn="l" indent="0" marL="0">
              <a:lnSpc>
                <a:spcPct val="115000"/>
              </a:lnSpc>
              <a:buNone/>
            </a:pPr>
            <a:r>
              <a:rPr lang="en-US" sz="1350" dirty="0">
                <a:solidFill>
                  <a:srgbClr val="1A1A1A"/>
                </a:solidFill>
                <a:latin typeface="Consolas" pitchFamily="34" charset="0"/>
                <a:ea typeface="Consolas" pitchFamily="34" charset="-122"/>
                <a:cs typeface="Consolas" pitchFamily="34" charset="-120"/>
              </a:rPr>
              <a:t>"...One of the notes repeats every 23 1/2 seconds. The next lowest loop repeats every 25 7/8 seconds. The third one every 29 15/16 seconds. What I mean is they all repeat in cycles that are called incommensurable — they are not likely to come back into sync again."</a:t>
            </a:r>
            <a:endParaRPr lang="en-US" sz="1350" dirty="0"/>
          </a:p>
        </p:txBody>
      </p:sp>
      <p:sp>
        <p:nvSpPr>
          <p:cNvPr id="5" name="Shape 2"/>
          <p:cNvSpPr/>
          <p:nvPr/>
        </p:nvSpPr>
        <p:spPr>
          <a:xfrm>
            <a:off x="6126480" y="1371600"/>
            <a:ext cx="2468880" cy="2377440"/>
          </a:xfrm>
          <a:prstGeom prst="rect">
            <a:avLst/>
          </a:prstGeom>
          <a:solidFill>
            <a:srgbClr val="242424"/>
          </a:solidFill>
          <a:ln w="12700">
            <a:solidFill>
              <a:srgbClr val="454545"/>
            </a:solidFill>
            <a:prstDash val="dash"/>
          </a:ln>
        </p:spPr>
      </p:sp>
      <p:sp>
        <p:nvSpPr>
          <p:cNvPr id="6" name="Text 3"/>
          <p:cNvSpPr/>
          <p:nvPr/>
        </p:nvSpPr>
        <p:spPr>
          <a:xfrm>
            <a:off x="6217920" y="1371600"/>
            <a:ext cx="2286000" cy="2377440"/>
          </a:xfrm>
          <a:prstGeom prst="rect">
            <a:avLst/>
          </a:prstGeom>
          <a:noFill/>
          <a:ln/>
        </p:spPr>
        <p:txBody>
          <a:bodyPr wrap="square" lIns="0" tIns="0" rIns="0" bIns="0" rtlCol="0" anchor="ctr"/>
          <a:lstStyle/>
          <a:p>
            <a:pPr algn="ctr" indent="0" marL="0">
              <a:buNone/>
            </a:pPr>
            <a:r>
              <a:rPr lang="en-US" sz="1400" dirty="0">
                <a:solidFill>
                  <a:srgbClr val="8A8A8A"/>
                </a:solidFill>
                <a:latin typeface="Consolas" pitchFamily="34" charset="0"/>
                <a:ea typeface="Consolas" pitchFamily="34" charset="-122"/>
                <a:cs typeface="Consolas" pitchFamily="34" charset="-120"/>
              </a:rPr>
              <a:t>[ Eno at the tape machine —</a:t>
            </a:r>
            <a:endParaRPr lang="en-US" sz="1400" dirty="0"/>
          </a:p>
          <a:p>
            <a:pPr algn="ctr" indent="0" marL="0">
              <a:buNone/>
            </a:pPr>
            <a:r>
              <a:rPr lang="en-US" sz="1400" dirty="0">
                <a:solidFill>
                  <a:srgbClr val="8A8A8A"/>
                </a:solidFill>
                <a:latin typeface="Consolas" pitchFamily="34" charset="0"/>
                <a:ea typeface="Consolas" pitchFamily="34" charset="-122"/>
                <a:cs typeface="Consolas" pitchFamily="34" charset="-120"/>
              </a:rPr>
              <a:t>reuse photo from old deck ]</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457200" y="548640"/>
            <a:ext cx="8229600" cy="1280160"/>
          </a:xfrm>
          <a:prstGeom prst="rect">
            <a:avLst/>
          </a:prstGeom>
          <a:noFill/>
          <a:ln/>
        </p:spPr>
        <p:txBody>
          <a:bodyPr wrap="square" lIns="0" tIns="0" rIns="0" bIns="0" rtlCol="0" anchor="ctr"/>
          <a:lstStyle/>
          <a:p>
            <a:pPr algn="ctr" indent="0" marL="0">
              <a:buNone/>
            </a:pPr>
            <a:r>
              <a:rPr lang="en-US" sz="8000" dirty="0">
                <a:solidFill>
                  <a:srgbClr val="8FCB9B"/>
                </a:solidFill>
                <a:latin typeface="Consolas" pitchFamily="34" charset="0"/>
                <a:ea typeface="Consolas" pitchFamily="34" charset="-122"/>
                <a:cs typeface="Consolas" pitchFamily="34" charset="-120"/>
              </a:rPr>
              <a:t>▶</a:t>
            </a:r>
            <a:endParaRPr lang="en-US" sz="8000" dirty="0"/>
          </a:p>
        </p:txBody>
      </p:sp>
      <p:sp>
        <p:nvSpPr>
          <p:cNvPr id="4" name="Text 1"/>
          <p:cNvSpPr/>
          <p:nvPr/>
        </p:nvSpPr>
        <p:spPr>
          <a:xfrm>
            <a:off x="457200" y="1828800"/>
            <a:ext cx="8229600" cy="1280160"/>
          </a:xfrm>
          <a:prstGeom prst="rect">
            <a:avLst/>
          </a:prstGeom>
          <a:noFill/>
          <a:ln/>
        </p:spPr>
        <p:txBody>
          <a:bodyPr wrap="square" lIns="0" tIns="0" rIns="0" bIns="0" rtlCol="0" anchor="ctr"/>
          <a:lstStyle/>
          <a:p>
            <a:pPr algn="ctr" indent="0" marL="0">
              <a:buNone/>
            </a:pPr>
            <a:r>
              <a:rPr lang="en-US" sz="3200" b="1" dirty="0">
                <a:solidFill>
                  <a:srgbClr val="ECECEC"/>
                </a:solidFill>
                <a:latin typeface="Consolas" pitchFamily="34" charset="0"/>
                <a:ea typeface="Consolas" pitchFamily="34" charset="-122"/>
                <a:cs typeface="Consolas" pitchFamily="34" charset="-120"/>
              </a:rPr>
              <a:t>DEMO — from the front</a:t>
            </a:r>
            <a:endParaRPr lang="en-US" sz="3200" dirty="0"/>
          </a:p>
        </p:txBody>
      </p:sp>
      <p:sp>
        <p:nvSpPr>
          <p:cNvPr id="5" name="Text 2"/>
          <p:cNvSpPr/>
          <p:nvPr/>
        </p:nvSpPr>
        <p:spPr>
          <a:xfrm>
            <a:off x="457200" y="2697480"/>
            <a:ext cx="8229600" cy="365760"/>
          </a:xfrm>
          <a:prstGeom prst="rect">
            <a:avLst/>
          </a:prstGeom>
          <a:noFill/>
          <a:ln/>
        </p:spPr>
        <p:txBody>
          <a:bodyPr wrap="square" lIns="0" tIns="0" rIns="0" bIns="0" rtlCol="0" anchor="ctr"/>
          <a:lstStyle/>
          <a:p>
            <a:pPr algn="ctr" indent="0" marL="0">
              <a:buNone/>
            </a:pPr>
            <a:r>
              <a:rPr lang="en-US" sz="1500" dirty="0">
                <a:solidFill>
                  <a:srgbClr val="ECECEC"/>
                </a:solidFill>
                <a:latin typeface="Consolas" pitchFamily="34" charset="0"/>
                <a:ea typeface="Consolas" pitchFamily="34" charset="-122"/>
                <a:cs typeface="Consolas" pitchFamily="34" charset="-120"/>
              </a:rPr>
              <a:t>load the airports preset · let the loops drift · just listen</a:t>
            </a:r>
            <a:endParaRPr lang="en-US" sz="1500" dirty="0"/>
          </a:p>
        </p:txBody>
      </p:sp>
      <p:sp>
        <p:nvSpPr>
          <p:cNvPr id="6" name="Text 3"/>
          <p:cNvSpPr/>
          <p:nvPr/>
        </p:nvSpPr>
        <p:spPr>
          <a:xfrm>
            <a:off x="914400" y="3383280"/>
            <a:ext cx="7315200" cy="731520"/>
          </a:xfrm>
          <a:prstGeom prst="rect">
            <a:avLst/>
          </a:prstGeom>
          <a:noFill/>
          <a:ln/>
        </p:spPr>
        <p:txBody>
          <a:bodyPr wrap="square" lIns="0" tIns="0" rIns="0" bIns="0" rtlCol="0" anchor="ctr"/>
          <a:lstStyle/>
          <a:p>
            <a:pPr algn="ctr" indent="0" marL="0">
              <a:buNone/>
            </a:pPr>
            <a:r>
              <a:rPr lang="en-US" sz="1400" i="1" dirty="0">
                <a:solidFill>
                  <a:srgbClr val="EEC643"/>
                </a:solidFill>
                <a:latin typeface="Consolas" pitchFamily="34" charset="0"/>
                <a:ea typeface="Consolas" pitchFamily="34" charset="-122"/>
                <a:cs typeface="Consolas" pitchFamily="34" charset="-120"/>
              </a:rPr>
              <a:t>"By the end, every laptop in this room is one of these loops — and we play the piece together."</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1A"/>
        </a:solidFill>
      </p:bgPr>
    </p:bg>
    <p:spTree>
      <p:nvGrpSpPr>
        <p:cNvPr id="1" name=""/>
        <p:cNvGrpSpPr/>
        <p:nvPr/>
      </p:nvGrpSpPr>
      <p:grpSpPr>
        <a:xfrm>
          <a:off x="0" y="0"/>
          <a:ext cx="0" cy="0"/>
          <a:chOff x="0" y="0"/>
          <a:chExt cx="0" cy="0"/>
        </a:xfrm>
      </p:grpSpPr>
      <p:sp>
        <p:nvSpPr>
          <p:cNvPr id="3" name="Shape 0"/>
          <p:cNvSpPr/>
          <p:nvPr/>
        </p:nvSpPr>
        <p:spPr>
          <a:xfrm>
            <a:off x="640080" y="731520"/>
            <a:ext cx="5212080" cy="3657600"/>
          </a:xfrm>
          <a:prstGeom prst="rect">
            <a:avLst/>
          </a:prstGeom>
          <a:solidFill>
            <a:srgbClr val="E6E6E6"/>
          </a:solidFill>
          <a:ln/>
        </p:spPr>
      </p:sp>
      <p:sp>
        <p:nvSpPr>
          <p:cNvPr id="4" name="Text 1"/>
          <p:cNvSpPr/>
          <p:nvPr/>
        </p:nvSpPr>
        <p:spPr>
          <a:xfrm>
            <a:off x="868680" y="914400"/>
            <a:ext cx="4754880" cy="3291840"/>
          </a:xfrm>
          <a:prstGeom prst="rect">
            <a:avLst/>
          </a:prstGeom>
          <a:noFill/>
          <a:ln/>
        </p:spPr>
        <p:txBody>
          <a:bodyPr wrap="square" lIns="0" tIns="0" rIns="0" bIns="0" rtlCol="0" anchor="ctr"/>
          <a:lstStyle/>
          <a:p>
            <a:pPr algn="l" indent="0" marL="0">
              <a:lnSpc>
                <a:spcPct val="115000"/>
              </a:lnSpc>
              <a:buNone/>
            </a:pPr>
            <a:r>
              <a:rPr lang="en-US" sz="1350" dirty="0">
                <a:solidFill>
                  <a:srgbClr val="1A1A1A"/>
                </a:solidFill>
                <a:latin typeface="Consolas" pitchFamily="34" charset="0"/>
                <a:ea typeface="Consolas" pitchFamily="34" charset="-122"/>
                <a:cs typeface="Consolas" pitchFamily="34" charset="-120"/>
              </a:rPr>
              <a:t>"...the result is very, very nice. The interesting thing is that it doesn't sound at all mechanical or mathematical as you would imagine. It sounds like some guy is sitting there playing the piano with quite intense feeling..."</a:t>
            </a:r>
            <a:endParaRPr lang="en-US" sz="1350" dirty="0"/>
          </a:p>
        </p:txBody>
      </p:sp>
      <p:sp>
        <p:nvSpPr>
          <p:cNvPr id="5" name="Shape 2"/>
          <p:cNvSpPr/>
          <p:nvPr/>
        </p:nvSpPr>
        <p:spPr>
          <a:xfrm>
            <a:off x="6126480" y="1371600"/>
            <a:ext cx="2468880" cy="2377440"/>
          </a:xfrm>
          <a:prstGeom prst="rect">
            <a:avLst/>
          </a:prstGeom>
          <a:solidFill>
            <a:srgbClr val="242424"/>
          </a:solidFill>
          <a:ln w="12700">
            <a:solidFill>
              <a:srgbClr val="454545"/>
            </a:solidFill>
            <a:prstDash val="dash"/>
          </a:ln>
        </p:spPr>
      </p:sp>
      <p:sp>
        <p:nvSpPr>
          <p:cNvPr id="6" name="Text 3"/>
          <p:cNvSpPr/>
          <p:nvPr/>
        </p:nvSpPr>
        <p:spPr>
          <a:xfrm>
            <a:off x="6217920" y="1371600"/>
            <a:ext cx="2286000" cy="2377440"/>
          </a:xfrm>
          <a:prstGeom prst="rect">
            <a:avLst/>
          </a:prstGeom>
          <a:noFill/>
          <a:ln/>
        </p:spPr>
        <p:txBody>
          <a:bodyPr wrap="square" lIns="0" tIns="0" rIns="0" bIns="0" rtlCol="0" anchor="ctr"/>
          <a:lstStyle/>
          <a:p>
            <a:pPr algn="ctr" indent="0" marL="0">
              <a:buNone/>
            </a:pPr>
            <a:r>
              <a:rPr lang="en-US" sz="1400" dirty="0">
                <a:solidFill>
                  <a:srgbClr val="8A8A8A"/>
                </a:solidFill>
                <a:latin typeface="Consolas" pitchFamily="34" charset="0"/>
                <a:ea typeface="Consolas" pitchFamily="34" charset="-122"/>
                <a:cs typeface="Consolas" pitchFamily="34" charset="-120"/>
              </a:rPr>
              <a:t>[ Eno at the tape machine —</a:t>
            </a:r>
            <a:endParaRPr lang="en-US" sz="1400" dirty="0"/>
          </a:p>
          <a:p>
            <a:pPr algn="ctr" indent="0" marL="0">
              <a:buNone/>
            </a:pPr>
            <a:r>
              <a:rPr lang="en-US" sz="1400" dirty="0">
                <a:solidFill>
                  <a:srgbClr val="8A8A8A"/>
                </a:solidFill>
                <a:latin typeface="Consolas" pitchFamily="34" charset="0"/>
                <a:ea typeface="Consolas" pitchFamily="34" charset="-122"/>
                <a:cs typeface="Consolas" pitchFamily="34" charset="-120"/>
              </a:rPr>
              <a:t>reuse photo from old deck ]</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457200" y="1463040"/>
            <a:ext cx="8229600" cy="2194560"/>
          </a:xfrm>
          <a:prstGeom prst="rect">
            <a:avLst/>
          </a:prstGeom>
          <a:noFill/>
          <a:ln/>
          <a:effectLst>
            <a:outerShdw sx="100000" sy="100000" kx="0" ky="0" algn="bl" rotWithShape="0" blurRad="101600" dist="38100" dir="8100000">
              <a:srgbClr val="000000">
                <a:alpha val="50000"/>
              </a:srgbClr>
            </a:outerShdw>
          </a:effectLst>
        </p:spPr>
        <p:txBody>
          <a:bodyPr wrap="square" lIns="0" tIns="0" rIns="0" bIns="0" rtlCol="0" anchor="ctr"/>
          <a:lstStyle/>
          <a:p>
            <a:pPr algn="ctr" indent="0" marL="0">
              <a:buNone/>
            </a:pPr>
            <a:r>
              <a:rPr lang="en-US" sz="9600" spc="400" kern="0" dirty="0">
                <a:solidFill>
                  <a:srgbClr val="E5413A"/>
                </a:solidFill>
                <a:latin typeface="Impact" pitchFamily="34" charset="0"/>
                <a:ea typeface="Impact" pitchFamily="34" charset="-122"/>
                <a:cs typeface="Impact" pitchFamily="34" charset="-120"/>
              </a:rPr>
              <a:t>MATH</a:t>
            </a:r>
            <a:endParaRPr lang="en-US" sz="9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457200" y="457200"/>
            <a:ext cx="8229600" cy="1280160"/>
          </a:xfrm>
          <a:prstGeom prst="rect">
            <a:avLst/>
          </a:prstGeom>
          <a:noFill/>
          <a:ln/>
        </p:spPr>
        <p:txBody>
          <a:bodyPr wrap="square" lIns="0" tIns="0" rIns="0" bIns="0" rtlCol="0" anchor="ctr"/>
          <a:lstStyle/>
          <a:p>
            <a:pPr algn="ctr" indent="0" marL="0">
              <a:buNone/>
            </a:pPr>
            <a:r>
              <a:rPr lang="en-US" sz="3600" b="1" dirty="0">
                <a:solidFill>
                  <a:srgbClr val="ECECEC"/>
                </a:solidFill>
                <a:latin typeface="Consolas" pitchFamily="34" charset="0"/>
                <a:ea typeface="Consolas" pitchFamily="34" charset="-122"/>
                <a:cs typeface="Consolas" pitchFamily="34" charset="-120"/>
              </a:rPr>
              <a:t>Coprime</a:t>
            </a:r>
            <a:endParaRPr lang="en-US" sz="3600" dirty="0"/>
          </a:p>
        </p:txBody>
      </p:sp>
      <p:sp>
        <p:nvSpPr>
          <p:cNvPr id="4" name="Text 1"/>
          <p:cNvSpPr/>
          <p:nvPr/>
        </p:nvSpPr>
        <p:spPr>
          <a:xfrm>
            <a:off x="457200" y="1234440"/>
            <a:ext cx="8229600" cy="365760"/>
          </a:xfrm>
          <a:prstGeom prst="rect">
            <a:avLst/>
          </a:prstGeom>
          <a:noFill/>
          <a:ln/>
        </p:spPr>
        <p:txBody>
          <a:bodyPr wrap="square" lIns="0" tIns="0" rIns="0" bIns="0" rtlCol="0" anchor="ctr"/>
          <a:lstStyle/>
          <a:p>
            <a:pPr algn="ctr" indent="0" marL="0">
              <a:buNone/>
            </a:pPr>
            <a:r>
              <a:rPr lang="en-US" sz="1500" dirty="0">
                <a:solidFill>
                  <a:srgbClr val="8A8A8A"/>
                </a:solidFill>
                <a:latin typeface="Consolas" pitchFamily="34" charset="0"/>
                <a:ea typeface="Consolas" pitchFamily="34" charset="-122"/>
                <a:cs typeface="Consolas" pitchFamily="34" charset="-120"/>
              </a:rPr>
              <a:t>two numbers are coprime when they share no factors</a:t>
            </a:r>
            <a:endParaRPr lang="en-US" sz="1500" dirty="0"/>
          </a:p>
        </p:txBody>
      </p:sp>
      <p:sp>
        <p:nvSpPr>
          <p:cNvPr id="5" name="Shape 2"/>
          <p:cNvSpPr/>
          <p:nvPr/>
        </p:nvSpPr>
        <p:spPr>
          <a:xfrm flipH="1">
            <a:off x="1920240" y="2377440"/>
            <a:ext cx="548640" cy="822960"/>
          </a:xfrm>
          <a:prstGeom prst="line">
            <a:avLst/>
          </a:prstGeom>
          <a:noFill/>
          <a:ln w="19050">
            <a:solidFill>
              <a:srgbClr val="8A8A8A"/>
            </a:solidFill>
            <a:prstDash val="solid"/>
          </a:ln>
        </p:spPr>
      </p:sp>
      <p:sp>
        <p:nvSpPr>
          <p:cNvPr id="6" name="Shape 3"/>
          <p:cNvSpPr/>
          <p:nvPr/>
        </p:nvSpPr>
        <p:spPr>
          <a:xfrm>
            <a:off x="2468880" y="2377440"/>
            <a:ext cx="548640" cy="822960"/>
          </a:xfrm>
          <a:prstGeom prst="line">
            <a:avLst/>
          </a:prstGeom>
          <a:noFill/>
          <a:ln w="19050">
            <a:solidFill>
              <a:srgbClr val="8A8A8A"/>
            </a:solidFill>
            <a:prstDash val="solid"/>
          </a:ln>
        </p:spPr>
      </p:sp>
      <p:sp>
        <p:nvSpPr>
          <p:cNvPr id="7" name="Shape 4"/>
          <p:cNvSpPr/>
          <p:nvPr/>
        </p:nvSpPr>
        <p:spPr>
          <a:xfrm>
            <a:off x="2148840" y="1965960"/>
            <a:ext cx="640080" cy="640080"/>
          </a:xfrm>
          <a:prstGeom prst="ellipse">
            <a:avLst/>
          </a:prstGeom>
          <a:solidFill>
            <a:srgbClr val="2C2C2C"/>
          </a:solidFill>
          <a:ln w="12700">
            <a:solidFill>
              <a:srgbClr val="ECECEC"/>
            </a:solidFill>
            <a:prstDash val="solid"/>
          </a:ln>
        </p:spPr>
      </p:sp>
      <p:sp>
        <p:nvSpPr>
          <p:cNvPr id="8" name="Text 5"/>
          <p:cNvSpPr/>
          <p:nvPr/>
        </p:nvSpPr>
        <p:spPr>
          <a:xfrm>
            <a:off x="2148840" y="1965960"/>
            <a:ext cx="640080" cy="640080"/>
          </a:xfrm>
          <a:prstGeom prst="rect">
            <a:avLst/>
          </a:prstGeom>
          <a:noFill/>
          <a:ln/>
        </p:spPr>
        <p:txBody>
          <a:bodyPr wrap="square" lIns="0" tIns="0" rIns="0" bIns="0" rtlCol="0" anchor="ctr"/>
          <a:lstStyle/>
          <a:p>
            <a:pPr algn="ctr" indent="0" marL="0">
              <a:buNone/>
            </a:pPr>
            <a:r>
              <a:rPr lang="en-US" sz="1800" b="1" dirty="0">
                <a:solidFill>
                  <a:srgbClr val="ECECEC"/>
                </a:solidFill>
                <a:latin typeface="Consolas" pitchFamily="34" charset="0"/>
                <a:ea typeface="Consolas" pitchFamily="34" charset="-122"/>
                <a:cs typeface="Consolas" pitchFamily="34" charset="-120"/>
              </a:rPr>
              <a:t>9</a:t>
            </a:r>
            <a:endParaRPr lang="en-US" sz="1800" dirty="0"/>
          </a:p>
        </p:txBody>
      </p:sp>
      <p:sp>
        <p:nvSpPr>
          <p:cNvPr id="9" name="Shape 6"/>
          <p:cNvSpPr/>
          <p:nvPr/>
        </p:nvSpPr>
        <p:spPr>
          <a:xfrm>
            <a:off x="1600200" y="2971800"/>
            <a:ext cx="640080" cy="640080"/>
          </a:xfrm>
          <a:prstGeom prst="ellipse">
            <a:avLst/>
          </a:prstGeom>
          <a:solidFill>
            <a:srgbClr val="8FCB9B"/>
          </a:solidFill>
          <a:ln w="12700">
            <a:solidFill>
              <a:srgbClr val="ECECEC"/>
            </a:solidFill>
            <a:prstDash val="solid"/>
          </a:ln>
        </p:spPr>
      </p:sp>
      <p:sp>
        <p:nvSpPr>
          <p:cNvPr id="10" name="Text 7"/>
          <p:cNvSpPr/>
          <p:nvPr/>
        </p:nvSpPr>
        <p:spPr>
          <a:xfrm>
            <a:off x="1600200" y="2971800"/>
            <a:ext cx="640080" cy="640080"/>
          </a:xfrm>
          <a:prstGeom prst="rect">
            <a:avLst/>
          </a:prstGeom>
          <a:noFill/>
          <a:ln/>
        </p:spPr>
        <p:txBody>
          <a:bodyPr wrap="square" lIns="0" tIns="0" rIns="0" bIns="0" rtlCol="0" anchor="ctr"/>
          <a:lstStyle/>
          <a:p>
            <a:pPr algn="ctr" indent="0" marL="0">
              <a:buNone/>
            </a:pPr>
            <a:r>
              <a:rPr lang="en-US" sz="1800" b="1" dirty="0">
                <a:solidFill>
                  <a:srgbClr val="ECECEC"/>
                </a:solidFill>
                <a:latin typeface="Consolas" pitchFamily="34" charset="0"/>
                <a:ea typeface="Consolas" pitchFamily="34" charset="-122"/>
                <a:cs typeface="Consolas" pitchFamily="34" charset="-120"/>
              </a:rPr>
              <a:t>3</a:t>
            </a:r>
            <a:endParaRPr lang="en-US" sz="1800" dirty="0"/>
          </a:p>
        </p:txBody>
      </p:sp>
      <p:sp>
        <p:nvSpPr>
          <p:cNvPr id="11" name="Shape 8"/>
          <p:cNvSpPr/>
          <p:nvPr/>
        </p:nvSpPr>
        <p:spPr>
          <a:xfrm>
            <a:off x="2697480" y="2971800"/>
            <a:ext cx="640080" cy="640080"/>
          </a:xfrm>
          <a:prstGeom prst="ellipse">
            <a:avLst/>
          </a:prstGeom>
          <a:solidFill>
            <a:srgbClr val="8FCB9B"/>
          </a:solidFill>
          <a:ln w="12700">
            <a:solidFill>
              <a:srgbClr val="ECECEC"/>
            </a:solidFill>
            <a:prstDash val="solid"/>
          </a:ln>
        </p:spPr>
      </p:sp>
      <p:sp>
        <p:nvSpPr>
          <p:cNvPr id="12" name="Text 9"/>
          <p:cNvSpPr/>
          <p:nvPr/>
        </p:nvSpPr>
        <p:spPr>
          <a:xfrm>
            <a:off x="2697480" y="2971800"/>
            <a:ext cx="640080" cy="640080"/>
          </a:xfrm>
          <a:prstGeom prst="rect">
            <a:avLst/>
          </a:prstGeom>
          <a:noFill/>
          <a:ln/>
        </p:spPr>
        <p:txBody>
          <a:bodyPr wrap="square" lIns="0" tIns="0" rIns="0" bIns="0" rtlCol="0" anchor="ctr"/>
          <a:lstStyle/>
          <a:p>
            <a:pPr algn="ctr" indent="0" marL="0">
              <a:buNone/>
            </a:pPr>
            <a:r>
              <a:rPr lang="en-US" sz="1800" b="1" dirty="0">
                <a:solidFill>
                  <a:srgbClr val="ECECEC"/>
                </a:solidFill>
                <a:latin typeface="Consolas" pitchFamily="34" charset="0"/>
                <a:ea typeface="Consolas" pitchFamily="34" charset="-122"/>
                <a:cs typeface="Consolas" pitchFamily="34" charset="-120"/>
              </a:rPr>
              <a:t>3</a:t>
            </a:r>
            <a:endParaRPr lang="en-US" sz="1800" dirty="0"/>
          </a:p>
        </p:txBody>
      </p:sp>
      <p:sp>
        <p:nvSpPr>
          <p:cNvPr id="13" name="Text 10"/>
          <p:cNvSpPr/>
          <p:nvPr/>
        </p:nvSpPr>
        <p:spPr>
          <a:xfrm>
            <a:off x="1371600" y="3840480"/>
            <a:ext cx="2194560" cy="365760"/>
          </a:xfrm>
          <a:prstGeom prst="rect">
            <a:avLst/>
          </a:prstGeom>
          <a:noFill/>
          <a:ln/>
        </p:spPr>
        <p:txBody>
          <a:bodyPr wrap="square" lIns="0" tIns="0" rIns="0" bIns="0" rtlCol="0" anchor="ctr"/>
          <a:lstStyle/>
          <a:p>
            <a:pPr algn="ctr" indent="0" marL="0">
              <a:buNone/>
            </a:pPr>
            <a:r>
              <a:rPr lang="en-US" sz="1600" dirty="0">
                <a:solidFill>
                  <a:srgbClr val="ECECEC"/>
                </a:solidFill>
                <a:latin typeface="Consolas" pitchFamily="34" charset="0"/>
                <a:ea typeface="Consolas" pitchFamily="34" charset="-122"/>
                <a:cs typeface="Consolas" pitchFamily="34" charset="-120"/>
              </a:rPr>
              <a:t>9 = 3 × 3</a:t>
            </a:r>
            <a:endParaRPr lang="en-US" sz="1600" dirty="0"/>
          </a:p>
        </p:txBody>
      </p:sp>
      <p:sp>
        <p:nvSpPr>
          <p:cNvPr id="14" name="Shape 11"/>
          <p:cNvSpPr/>
          <p:nvPr/>
        </p:nvSpPr>
        <p:spPr>
          <a:xfrm flipH="1">
            <a:off x="5852160" y="2377440"/>
            <a:ext cx="548640" cy="822960"/>
          </a:xfrm>
          <a:prstGeom prst="line">
            <a:avLst/>
          </a:prstGeom>
          <a:noFill/>
          <a:ln w="19050">
            <a:solidFill>
              <a:srgbClr val="8A8A8A"/>
            </a:solidFill>
            <a:prstDash val="solid"/>
          </a:ln>
        </p:spPr>
      </p:sp>
      <p:sp>
        <p:nvSpPr>
          <p:cNvPr id="15" name="Shape 12"/>
          <p:cNvSpPr/>
          <p:nvPr/>
        </p:nvSpPr>
        <p:spPr>
          <a:xfrm>
            <a:off x="6400800" y="2377440"/>
            <a:ext cx="548640" cy="822960"/>
          </a:xfrm>
          <a:prstGeom prst="line">
            <a:avLst/>
          </a:prstGeom>
          <a:noFill/>
          <a:ln w="19050">
            <a:solidFill>
              <a:srgbClr val="8A8A8A"/>
            </a:solidFill>
            <a:prstDash val="solid"/>
          </a:ln>
        </p:spPr>
      </p:sp>
      <p:sp>
        <p:nvSpPr>
          <p:cNvPr id="16" name="Shape 13"/>
          <p:cNvSpPr/>
          <p:nvPr/>
        </p:nvSpPr>
        <p:spPr>
          <a:xfrm>
            <a:off x="6080760" y="1965960"/>
            <a:ext cx="640080" cy="640080"/>
          </a:xfrm>
          <a:prstGeom prst="ellipse">
            <a:avLst/>
          </a:prstGeom>
          <a:solidFill>
            <a:srgbClr val="2C2C2C"/>
          </a:solidFill>
          <a:ln w="12700">
            <a:solidFill>
              <a:srgbClr val="ECECEC"/>
            </a:solidFill>
            <a:prstDash val="solid"/>
          </a:ln>
        </p:spPr>
      </p:sp>
      <p:sp>
        <p:nvSpPr>
          <p:cNvPr id="17" name="Text 14"/>
          <p:cNvSpPr/>
          <p:nvPr/>
        </p:nvSpPr>
        <p:spPr>
          <a:xfrm>
            <a:off x="6080760" y="1965960"/>
            <a:ext cx="640080" cy="640080"/>
          </a:xfrm>
          <a:prstGeom prst="rect">
            <a:avLst/>
          </a:prstGeom>
          <a:noFill/>
          <a:ln/>
        </p:spPr>
        <p:txBody>
          <a:bodyPr wrap="square" lIns="0" tIns="0" rIns="0" bIns="0" rtlCol="0" anchor="ctr"/>
          <a:lstStyle/>
          <a:p>
            <a:pPr algn="ctr" indent="0" marL="0">
              <a:buNone/>
            </a:pPr>
            <a:r>
              <a:rPr lang="en-US" sz="1800" b="1" dirty="0">
                <a:solidFill>
                  <a:srgbClr val="ECECEC"/>
                </a:solidFill>
                <a:latin typeface="Consolas" pitchFamily="34" charset="0"/>
                <a:ea typeface="Consolas" pitchFamily="34" charset="-122"/>
                <a:cs typeface="Consolas" pitchFamily="34" charset="-120"/>
              </a:rPr>
              <a:t>10</a:t>
            </a:r>
            <a:endParaRPr lang="en-US" sz="1800" dirty="0"/>
          </a:p>
        </p:txBody>
      </p:sp>
      <p:sp>
        <p:nvSpPr>
          <p:cNvPr id="18" name="Shape 15"/>
          <p:cNvSpPr/>
          <p:nvPr/>
        </p:nvSpPr>
        <p:spPr>
          <a:xfrm>
            <a:off x="5532120" y="2971800"/>
            <a:ext cx="640080" cy="640080"/>
          </a:xfrm>
          <a:prstGeom prst="ellipse">
            <a:avLst/>
          </a:prstGeom>
          <a:solidFill>
            <a:srgbClr val="7FA8D4"/>
          </a:solidFill>
          <a:ln w="12700">
            <a:solidFill>
              <a:srgbClr val="ECECEC"/>
            </a:solidFill>
            <a:prstDash val="solid"/>
          </a:ln>
        </p:spPr>
      </p:sp>
      <p:sp>
        <p:nvSpPr>
          <p:cNvPr id="19" name="Text 16"/>
          <p:cNvSpPr/>
          <p:nvPr/>
        </p:nvSpPr>
        <p:spPr>
          <a:xfrm>
            <a:off x="5532120" y="2971800"/>
            <a:ext cx="640080" cy="640080"/>
          </a:xfrm>
          <a:prstGeom prst="rect">
            <a:avLst/>
          </a:prstGeom>
          <a:noFill/>
          <a:ln/>
        </p:spPr>
        <p:txBody>
          <a:bodyPr wrap="square" lIns="0" tIns="0" rIns="0" bIns="0" rtlCol="0" anchor="ctr"/>
          <a:lstStyle/>
          <a:p>
            <a:pPr algn="ctr" indent="0" marL="0">
              <a:buNone/>
            </a:pPr>
            <a:r>
              <a:rPr lang="en-US" sz="1800" b="1" dirty="0">
                <a:solidFill>
                  <a:srgbClr val="ECECEC"/>
                </a:solidFill>
                <a:latin typeface="Consolas" pitchFamily="34" charset="0"/>
                <a:ea typeface="Consolas" pitchFamily="34" charset="-122"/>
                <a:cs typeface="Consolas" pitchFamily="34" charset="-120"/>
              </a:rPr>
              <a:t>2</a:t>
            </a:r>
            <a:endParaRPr lang="en-US" sz="1800" dirty="0"/>
          </a:p>
        </p:txBody>
      </p:sp>
      <p:sp>
        <p:nvSpPr>
          <p:cNvPr id="20" name="Shape 17"/>
          <p:cNvSpPr/>
          <p:nvPr/>
        </p:nvSpPr>
        <p:spPr>
          <a:xfrm>
            <a:off x="6629400" y="2971800"/>
            <a:ext cx="640080" cy="640080"/>
          </a:xfrm>
          <a:prstGeom prst="ellipse">
            <a:avLst/>
          </a:prstGeom>
          <a:solidFill>
            <a:srgbClr val="7FA8D4"/>
          </a:solidFill>
          <a:ln w="12700">
            <a:solidFill>
              <a:srgbClr val="ECECEC"/>
            </a:solidFill>
            <a:prstDash val="solid"/>
          </a:ln>
        </p:spPr>
      </p:sp>
      <p:sp>
        <p:nvSpPr>
          <p:cNvPr id="21" name="Text 18"/>
          <p:cNvSpPr/>
          <p:nvPr/>
        </p:nvSpPr>
        <p:spPr>
          <a:xfrm>
            <a:off x="6629400" y="2971800"/>
            <a:ext cx="640080" cy="640080"/>
          </a:xfrm>
          <a:prstGeom prst="rect">
            <a:avLst/>
          </a:prstGeom>
          <a:noFill/>
          <a:ln/>
        </p:spPr>
        <p:txBody>
          <a:bodyPr wrap="square" lIns="0" tIns="0" rIns="0" bIns="0" rtlCol="0" anchor="ctr"/>
          <a:lstStyle/>
          <a:p>
            <a:pPr algn="ctr" indent="0" marL="0">
              <a:buNone/>
            </a:pPr>
            <a:r>
              <a:rPr lang="en-US" sz="1800" b="1" dirty="0">
                <a:solidFill>
                  <a:srgbClr val="ECECEC"/>
                </a:solidFill>
                <a:latin typeface="Consolas" pitchFamily="34" charset="0"/>
                <a:ea typeface="Consolas" pitchFamily="34" charset="-122"/>
                <a:cs typeface="Consolas" pitchFamily="34" charset="-120"/>
              </a:rPr>
              <a:t>5</a:t>
            </a:r>
            <a:endParaRPr lang="en-US" sz="1800" dirty="0"/>
          </a:p>
        </p:txBody>
      </p:sp>
      <p:sp>
        <p:nvSpPr>
          <p:cNvPr id="22" name="Text 19"/>
          <p:cNvSpPr/>
          <p:nvPr/>
        </p:nvSpPr>
        <p:spPr>
          <a:xfrm>
            <a:off x="5303520" y="3840480"/>
            <a:ext cx="2194560" cy="365760"/>
          </a:xfrm>
          <a:prstGeom prst="rect">
            <a:avLst/>
          </a:prstGeom>
          <a:noFill/>
          <a:ln/>
        </p:spPr>
        <p:txBody>
          <a:bodyPr wrap="square" lIns="0" tIns="0" rIns="0" bIns="0" rtlCol="0" anchor="ctr"/>
          <a:lstStyle/>
          <a:p>
            <a:pPr algn="ctr" indent="0" marL="0">
              <a:buNone/>
            </a:pPr>
            <a:r>
              <a:rPr lang="en-US" sz="1600" dirty="0">
                <a:solidFill>
                  <a:srgbClr val="ECECEC"/>
                </a:solidFill>
                <a:latin typeface="Consolas" pitchFamily="34" charset="0"/>
                <a:ea typeface="Consolas" pitchFamily="34" charset="-122"/>
                <a:cs typeface="Consolas" pitchFamily="34" charset="-120"/>
              </a:rPr>
              <a:t>10 = 2 × 5</a:t>
            </a:r>
            <a:endParaRPr lang="en-US" sz="1600" dirty="0"/>
          </a:p>
        </p:txBody>
      </p:sp>
      <p:sp>
        <p:nvSpPr>
          <p:cNvPr id="23" name="Text 20"/>
          <p:cNvSpPr/>
          <p:nvPr/>
        </p:nvSpPr>
        <p:spPr>
          <a:xfrm>
            <a:off x="457200" y="4434840"/>
            <a:ext cx="8229600" cy="365760"/>
          </a:xfrm>
          <a:prstGeom prst="rect">
            <a:avLst/>
          </a:prstGeom>
          <a:noFill/>
          <a:ln/>
        </p:spPr>
        <p:txBody>
          <a:bodyPr wrap="square" lIns="0" tIns="0" rIns="0" bIns="0" rtlCol="0" anchor="ctr"/>
          <a:lstStyle/>
          <a:p>
            <a:pPr algn="ctr" indent="0" marL="0">
              <a:buNone/>
            </a:pPr>
            <a:r>
              <a:rPr lang="en-US" sz="1600" dirty="0">
                <a:solidFill>
                  <a:srgbClr val="EEC643"/>
                </a:solidFill>
                <a:latin typeface="Consolas" pitchFamily="34" charset="0"/>
                <a:ea typeface="Consolas" pitchFamily="34" charset="-122"/>
                <a:cs typeface="Consolas" pitchFamily="34" charset="-120"/>
              </a:rPr>
              <a:t>nothing in common  →  coprime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457200" y="411480"/>
            <a:ext cx="8229600" cy="1280160"/>
          </a:xfrm>
          <a:prstGeom prst="rect">
            <a:avLst/>
          </a:prstGeom>
          <a:noFill/>
          <a:ln/>
        </p:spPr>
        <p:txBody>
          <a:bodyPr wrap="square" lIns="0" tIns="0" rIns="0" bIns="0" rtlCol="0" anchor="ctr"/>
          <a:lstStyle/>
          <a:p>
            <a:pPr algn="ctr" indent="0" marL="0">
              <a:buNone/>
            </a:pPr>
            <a:r>
              <a:rPr lang="en-US" sz="3200" b="1" dirty="0">
                <a:solidFill>
                  <a:srgbClr val="ECECEC"/>
                </a:solidFill>
                <a:latin typeface="Consolas" pitchFamily="34" charset="0"/>
                <a:ea typeface="Consolas" pitchFamily="34" charset="-122"/>
                <a:cs typeface="Consolas" pitchFamily="34" charset="-120"/>
              </a:rPr>
              <a:t>Coprime cycles</a:t>
            </a:r>
            <a:endParaRPr lang="en-US" sz="3200" dirty="0"/>
          </a:p>
        </p:txBody>
      </p:sp>
      <p:sp>
        <p:nvSpPr>
          <p:cNvPr id="4" name="Text 1"/>
          <p:cNvSpPr/>
          <p:nvPr/>
        </p:nvSpPr>
        <p:spPr>
          <a:xfrm>
            <a:off x="457200" y="1143000"/>
            <a:ext cx="8229600" cy="365760"/>
          </a:xfrm>
          <a:prstGeom prst="rect">
            <a:avLst/>
          </a:prstGeom>
          <a:noFill/>
          <a:ln/>
        </p:spPr>
        <p:txBody>
          <a:bodyPr wrap="square" lIns="0" tIns="0" rIns="0" bIns="0" rtlCol="0" anchor="ctr"/>
          <a:lstStyle/>
          <a:p>
            <a:pPr algn="ctr" indent="0" marL="0">
              <a:buNone/>
            </a:pPr>
            <a:r>
              <a:rPr lang="en-US" sz="1400" dirty="0">
                <a:solidFill>
                  <a:srgbClr val="8A8A8A"/>
                </a:solidFill>
                <a:latin typeface="Consolas" pitchFamily="34" charset="0"/>
                <a:ea typeface="Consolas" pitchFamily="34" charset="-122"/>
                <a:cs typeface="Consolas" pitchFamily="34" charset="-120"/>
              </a:rPr>
              <a:t>loops of coprime length take forever to line back up</a:t>
            </a:r>
            <a:endParaRPr lang="en-US" sz="1400" dirty="0"/>
          </a:p>
        </p:txBody>
      </p:sp>
      <p:sp>
        <p:nvSpPr>
          <p:cNvPr id="5" name="Shape 2"/>
          <p:cNvSpPr/>
          <p:nvPr/>
        </p:nvSpPr>
        <p:spPr>
          <a:xfrm>
            <a:off x="1371600" y="1920240"/>
            <a:ext cx="6400800" cy="502920"/>
          </a:xfrm>
          <a:prstGeom prst="rect">
            <a:avLst/>
          </a:prstGeom>
          <a:solidFill>
            <a:srgbClr val="EEC643"/>
          </a:solidFill>
          <a:ln/>
        </p:spPr>
      </p:sp>
      <p:sp>
        <p:nvSpPr>
          <p:cNvPr id="6" name="Shape 3"/>
          <p:cNvSpPr/>
          <p:nvPr/>
        </p:nvSpPr>
        <p:spPr>
          <a:xfrm>
            <a:off x="2082800" y="1920240"/>
            <a:ext cx="0" cy="502920"/>
          </a:xfrm>
          <a:prstGeom prst="line">
            <a:avLst/>
          </a:prstGeom>
          <a:noFill/>
          <a:ln w="19050">
            <a:solidFill>
              <a:srgbClr val="1A1A1A"/>
            </a:solidFill>
            <a:prstDash val="solid"/>
          </a:ln>
        </p:spPr>
      </p:sp>
      <p:sp>
        <p:nvSpPr>
          <p:cNvPr id="7" name="Shape 4"/>
          <p:cNvSpPr/>
          <p:nvPr/>
        </p:nvSpPr>
        <p:spPr>
          <a:xfrm>
            <a:off x="2794000" y="1920240"/>
            <a:ext cx="0" cy="502920"/>
          </a:xfrm>
          <a:prstGeom prst="line">
            <a:avLst/>
          </a:prstGeom>
          <a:noFill/>
          <a:ln w="19050">
            <a:solidFill>
              <a:srgbClr val="1A1A1A"/>
            </a:solidFill>
            <a:prstDash val="solid"/>
          </a:ln>
        </p:spPr>
      </p:sp>
      <p:sp>
        <p:nvSpPr>
          <p:cNvPr id="8" name="Shape 5"/>
          <p:cNvSpPr/>
          <p:nvPr/>
        </p:nvSpPr>
        <p:spPr>
          <a:xfrm>
            <a:off x="3505200" y="1920240"/>
            <a:ext cx="0" cy="502920"/>
          </a:xfrm>
          <a:prstGeom prst="line">
            <a:avLst/>
          </a:prstGeom>
          <a:noFill/>
          <a:ln w="19050">
            <a:solidFill>
              <a:srgbClr val="1A1A1A"/>
            </a:solidFill>
            <a:prstDash val="solid"/>
          </a:ln>
        </p:spPr>
      </p:sp>
      <p:sp>
        <p:nvSpPr>
          <p:cNvPr id="9" name="Shape 6"/>
          <p:cNvSpPr/>
          <p:nvPr/>
        </p:nvSpPr>
        <p:spPr>
          <a:xfrm>
            <a:off x="4216400" y="1920240"/>
            <a:ext cx="0" cy="502920"/>
          </a:xfrm>
          <a:prstGeom prst="line">
            <a:avLst/>
          </a:prstGeom>
          <a:noFill/>
          <a:ln w="19050">
            <a:solidFill>
              <a:srgbClr val="1A1A1A"/>
            </a:solidFill>
            <a:prstDash val="solid"/>
          </a:ln>
        </p:spPr>
      </p:sp>
      <p:sp>
        <p:nvSpPr>
          <p:cNvPr id="10" name="Shape 7"/>
          <p:cNvSpPr/>
          <p:nvPr/>
        </p:nvSpPr>
        <p:spPr>
          <a:xfrm>
            <a:off x="4927600" y="1920240"/>
            <a:ext cx="0" cy="502920"/>
          </a:xfrm>
          <a:prstGeom prst="line">
            <a:avLst/>
          </a:prstGeom>
          <a:noFill/>
          <a:ln w="19050">
            <a:solidFill>
              <a:srgbClr val="1A1A1A"/>
            </a:solidFill>
            <a:prstDash val="solid"/>
          </a:ln>
        </p:spPr>
      </p:sp>
      <p:sp>
        <p:nvSpPr>
          <p:cNvPr id="11" name="Shape 8"/>
          <p:cNvSpPr/>
          <p:nvPr/>
        </p:nvSpPr>
        <p:spPr>
          <a:xfrm>
            <a:off x="5638800" y="1920240"/>
            <a:ext cx="0" cy="502920"/>
          </a:xfrm>
          <a:prstGeom prst="line">
            <a:avLst/>
          </a:prstGeom>
          <a:noFill/>
          <a:ln w="19050">
            <a:solidFill>
              <a:srgbClr val="1A1A1A"/>
            </a:solidFill>
            <a:prstDash val="solid"/>
          </a:ln>
        </p:spPr>
      </p:sp>
      <p:sp>
        <p:nvSpPr>
          <p:cNvPr id="12" name="Shape 9"/>
          <p:cNvSpPr/>
          <p:nvPr/>
        </p:nvSpPr>
        <p:spPr>
          <a:xfrm>
            <a:off x="6350000" y="1920240"/>
            <a:ext cx="0" cy="502920"/>
          </a:xfrm>
          <a:prstGeom prst="line">
            <a:avLst/>
          </a:prstGeom>
          <a:noFill/>
          <a:ln w="19050">
            <a:solidFill>
              <a:srgbClr val="1A1A1A"/>
            </a:solidFill>
            <a:prstDash val="solid"/>
          </a:ln>
        </p:spPr>
      </p:sp>
      <p:sp>
        <p:nvSpPr>
          <p:cNvPr id="13" name="Shape 10"/>
          <p:cNvSpPr/>
          <p:nvPr/>
        </p:nvSpPr>
        <p:spPr>
          <a:xfrm>
            <a:off x="7061200" y="1920240"/>
            <a:ext cx="0" cy="502920"/>
          </a:xfrm>
          <a:prstGeom prst="line">
            <a:avLst/>
          </a:prstGeom>
          <a:noFill/>
          <a:ln w="19050">
            <a:solidFill>
              <a:srgbClr val="1A1A1A"/>
            </a:solidFill>
            <a:prstDash val="solid"/>
          </a:ln>
        </p:spPr>
      </p:sp>
      <p:sp>
        <p:nvSpPr>
          <p:cNvPr id="14" name="Text 11"/>
          <p:cNvSpPr/>
          <p:nvPr/>
        </p:nvSpPr>
        <p:spPr>
          <a:xfrm>
            <a:off x="182880" y="1920240"/>
            <a:ext cx="1097280" cy="502920"/>
          </a:xfrm>
          <a:prstGeom prst="rect">
            <a:avLst/>
          </a:prstGeom>
          <a:noFill/>
          <a:ln/>
        </p:spPr>
        <p:txBody>
          <a:bodyPr wrap="square" lIns="0" tIns="0" rIns="0" bIns="0" rtlCol="0" anchor="ctr"/>
          <a:lstStyle/>
          <a:p>
            <a:pPr algn="r" indent="0" marL="0">
              <a:buNone/>
            </a:pPr>
            <a:r>
              <a:rPr lang="en-US" sz="1400" dirty="0">
                <a:solidFill>
                  <a:srgbClr val="ECECEC"/>
                </a:solidFill>
                <a:latin typeface="Consolas" pitchFamily="34" charset="0"/>
                <a:ea typeface="Consolas" pitchFamily="34" charset="-122"/>
                <a:cs typeface="Consolas" pitchFamily="34" charset="-120"/>
              </a:rPr>
              <a:t>9</a:t>
            </a:r>
            <a:endParaRPr lang="en-US" sz="1400" dirty="0"/>
          </a:p>
        </p:txBody>
      </p:sp>
      <p:sp>
        <p:nvSpPr>
          <p:cNvPr id="15" name="Shape 12"/>
          <p:cNvSpPr/>
          <p:nvPr/>
        </p:nvSpPr>
        <p:spPr>
          <a:xfrm>
            <a:off x="1371600" y="2697480"/>
            <a:ext cx="6400800" cy="502920"/>
          </a:xfrm>
          <a:prstGeom prst="rect">
            <a:avLst/>
          </a:prstGeom>
          <a:solidFill>
            <a:srgbClr val="EEC643"/>
          </a:solidFill>
          <a:ln/>
        </p:spPr>
      </p:sp>
      <p:sp>
        <p:nvSpPr>
          <p:cNvPr id="16" name="Shape 13"/>
          <p:cNvSpPr/>
          <p:nvPr/>
        </p:nvSpPr>
        <p:spPr>
          <a:xfrm>
            <a:off x="2011680" y="2697480"/>
            <a:ext cx="0" cy="502920"/>
          </a:xfrm>
          <a:prstGeom prst="line">
            <a:avLst/>
          </a:prstGeom>
          <a:noFill/>
          <a:ln w="19050">
            <a:solidFill>
              <a:srgbClr val="1A1A1A"/>
            </a:solidFill>
            <a:prstDash val="solid"/>
          </a:ln>
        </p:spPr>
      </p:sp>
      <p:sp>
        <p:nvSpPr>
          <p:cNvPr id="17" name="Shape 14"/>
          <p:cNvSpPr/>
          <p:nvPr/>
        </p:nvSpPr>
        <p:spPr>
          <a:xfrm>
            <a:off x="2651760" y="2697480"/>
            <a:ext cx="0" cy="502920"/>
          </a:xfrm>
          <a:prstGeom prst="line">
            <a:avLst/>
          </a:prstGeom>
          <a:noFill/>
          <a:ln w="19050">
            <a:solidFill>
              <a:srgbClr val="1A1A1A"/>
            </a:solidFill>
            <a:prstDash val="solid"/>
          </a:ln>
        </p:spPr>
      </p:sp>
      <p:sp>
        <p:nvSpPr>
          <p:cNvPr id="18" name="Shape 15"/>
          <p:cNvSpPr/>
          <p:nvPr/>
        </p:nvSpPr>
        <p:spPr>
          <a:xfrm>
            <a:off x="3291840" y="2697480"/>
            <a:ext cx="0" cy="502920"/>
          </a:xfrm>
          <a:prstGeom prst="line">
            <a:avLst/>
          </a:prstGeom>
          <a:noFill/>
          <a:ln w="19050">
            <a:solidFill>
              <a:srgbClr val="1A1A1A"/>
            </a:solidFill>
            <a:prstDash val="solid"/>
          </a:ln>
        </p:spPr>
      </p:sp>
      <p:sp>
        <p:nvSpPr>
          <p:cNvPr id="19" name="Shape 16"/>
          <p:cNvSpPr/>
          <p:nvPr/>
        </p:nvSpPr>
        <p:spPr>
          <a:xfrm>
            <a:off x="3931920" y="2697480"/>
            <a:ext cx="0" cy="502920"/>
          </a:xfrm>
          <a:prstGeom prst="line">
            <a:avLst/>
          </a:prstGeom>
          <a:noFill/>
          <a:ln w="19050">
            <a:solidFill>
              <a:srgbClr val="1A1A1A"/>
            </a:solidFill>
            <a:prstDash val="solid"/>
          </a:ln>
        </p:spPr>
      </p:sp>
      <p:sp>
        <p:nvSpPr>
          <p:cNvPr id="20" name="Shape 17"/>
          <p:cNvSpPr/>
          <p:nvPr/>
        </p:nvSpPr>
        <p:spPr>
          <a:xfrm>
            <a:off x="4572000" y="2697480"/>
            <a:ext cx="0" cy="502920"/>
          </a:xfrm>
          <a:prstGeom prst="line">
            <a:avLst/>
          </a:prstGeom>
          <a:noFill/>
          <a:ln w="19050">
            <a:solidFill>
              <a:srgbClr val="1A1A1A"/>
            </a:solidFill>
            <a:prstDash val="solid"/>
          </a:ln>
        </p:spPr>
      </p:sp>
      <p:sp>
        <p:nvSpPr>
          <p:cNvPr id="21" name="Shape 18"/>
          <p:cNvSpPr/>
          <p:nvPr/>
        </p:nvSpPr>
        <p:spPr>
          <a:xfrm>
            <a:off x="5212080" y="2697480"/>
            <a:ext cx="0" cy="502920"/>
          </a:xfrm>
          <a:prstGeom prst="line">
            <a:avLst/>
          </a:prstGeom>
          <a:noFill/>
          <a:ln w="19050">
            <a:solidFill>
              <a:srgbClr val="1A1A1A"/>
            </a:solidFill>
            <a:prstDash val="solid"/>
          </a:ln>
        </p:spPr>
      </p:sp>
      <p:sp>
        <p:nvSpPr>
          <p:cNvPr id="22" name="Shape 19"/>
          <p:cNvSpPr/>
          <p:nvPr/>
        </p:nvSpPr>
        <p:spPr>
          <a:xfrm>
            <a:off x="5852160" y="2697480"/>
            <a:ext cx="0" cy="502920"/>
          </a:xfrm>
          <a:prstGeom prst="line">
            <a:avLst/>
          </a:prstGeom>
          <a:noFill/>
          <a:ln w="19050">
            <a:solidFill>
              <a:srgbClr val="1A1A1A"/>
            </a:solidFill>
            <a:prstDash val="solid"/>
          </a:ln>
        </p:spPr>
      </p:sp>
      <p:sp>
        <p:nvSpPr>
          <p:cNvPr id="23" name="Shape 20"/>
          <p:cNvSpPr/>
          <p:nvPr/>
        </p:nvSpPr>
        <p:spPr>
          <a:xfrm>
            <a:off x="6492240" y="2697480"/>
            <a:ext cx="0" cy="502920"/>
          </a:xfrm>
          <a:prstGeom prst="line">
            <a:avLst/>
          </a:prstGeom>
          <a:noFill/>
          <a:ln w="19050">
            <a:solidFill>
              <a:srgbClr val="1A1A1A"/>
            </a:solidFill>
            <a:prstDash val="solid"/>
          </a:ln>
        </p:spPr>
      </p:sp>
      <p:sp>
        <p:nvSpPr>
          <p:cNvPr id="24" name="Shape 21"/>
          <p:cNvSpPr/>
          <p:nvPr/>
        </p:nvSpPr>
        <p:spPr>
          <a:xfrm>
            <a:off x="7132320" y="2697480"/>
            <a:ext cx="0" cy="502920"/>
          </a:xfrm>
          <a:prstGeom prst="line">
            <a:avLst/>
          </a:prstGeom>
          <a:noFill/>
          <a:ln w="19050">
            <a:solidFill>
              <a:srgbClr val="1A1A1A"/>
            </a:solidFill>
            <a:prstDash val="solid"/>
          </a:ln>
        </p:spPr>
      </p:sp>
      <p:sp>
        <p:nvSpPr>
          <p:cNvPr id="25" name="Text 22"/>
          <p:cNvSpPr/>
          <p:nvPr/>
        </p:nvSpPr>
        <p:spPr>
          <a:xfrm>
            <a:off x="182880" y="2697480"/>
            <a:ext cx="1097280" cy="502920"/>
          </a:xfrm>
          <a:prstGeom prst="rect">
            <a:avLst/>
          </a:prstGeom>
          <a:noFill/>
          <a:ln/>
        </p:spPr>
        <p:txBody>
          <a:bodyPr wrap="square" lIns="0" tIns="0" rIns="0" bIns="0" rtlCol="0" anchor="ctr"/>
          <a:lstStyle/>
          <a:p>
            <a:pPr algn="r" indent="0" marL="0">
              <a:buNone/>
            </a:pPr>
            <a:r>
              <a:rPr lang="en-US" sz="1400" dirty="0">
                <a:solidFill>
                  <a:srgbClr val="ECECEC"/>
                </a:solidFill>
                <a:latin typeface="Consolas" pitchFamily="34" charset="0"/>
                <a:ea typeface="Consolas" pitchFamily="34" charset="-122"/>
                <a:cs typeface="Consolas" pitchFamily="34" charset="-120"/>
              </a:rPr>
              <a:t>10</a:t>
            </a:r>
            <a:endParaRPr lang="en-US" sz="1400" dirty="0"/>
          </a:p>
        </p:txBody>
      </p:sp>
      <p:sp>
        <p:nvSpPr>
          <p:cNvPr id="26" name="Text 23"/>
          <p:cNvSpPr/>
          <p:nvPr/>
        </p:nvSpPr>
        <p:spPr>
          <a:xfrm>
            <a:off x="457200" y="3657600"/>
            <a:ext cx="8229600" cy="457200"/>
          </a:xfrm>
          <a:prstGeom prst="rect">
            <a:avLst/>
          </a:prstGeom>
          <a:noFill/>
          <a:ln/>
        </p:spPr>
        <p:txBody>
          <a:bodyPr wrap="square" lIns="0" tIns="0" rIns="0" bIns="0" rtlCol="0" anchor="ctr"/>
          <a:lstStyle/>
          <a:p>
            <a:pPr algn="ctr" indent="0" marL="0">
              <a:buNone/>
            </a:pPr>
            <a:r>
              <a:rPr lang="en-US" sz="1800" dirty="0">
                <a:solidFill>
                  <a:srgbClr val="8FCB9B"/>
                </a:solidFill>
                <a:latin typeface="Consolas" pitchFamily="34" charset="0"/>
                <a:ea typeface="Consolas" pitchFamily="34" charset="-122"/>
                <a:cs typeface="Consolas" pitchFamily="34" charset="-120"/>
              </a:rPr>
              <a:t>9 × 10 = 90 beats before they meet again</a:t>
            </a:r>
            <a:endParaRPr lang="en-US" sz="1800" dirty="0"/>
          </a:p>
        </p:txBody>
      </p:sp>
      <p:sp>
        <p:nvSpPr>
          <p:cNvPr id="27" name="Text 24"/>
          <p:cNvSpPr/>
          <p:nvPr/>
        </p:nvSpPr>
        <p:spPr>
          <a:xfrm>
            <a:off x="457200" y="4206240"/>
            <a:ext cx="8229600" cy="365760"/>
          </a:xfrm>
          <a:prstGeom prst="rect">
            <a:avLst/>
          </a:prstGeom>
          <a:noFill/>
          <a:ln/>
        </p:spPr>
        <p:txBody>
          <a:bodyPr wrap="square" lIns="0" tIns="0" rIns="0" bIns="0" rtlCol="0" anchor="ctr"/>
          <a:lstStyle/>
          <a:p>
            <a:pPr algn="ctr" indent="0" marL="0">
              <a:buNone/>
            </a:pPr>
            <a:r>
              <a:rPr lang="en-US" sz="1300" dirty="0">
                <a:solidFill>
                  <a:srgbClr val="8A8A8A"/>
                </a:solidFill>
                <a:latin typeface="Consolas" pitchFamily="34" charset="0"/>
                <a:ea typeface="Consolas" pitchFamily="34" charset="-122"/>
                <a:cs typeface="Consolas" pitchFamily="34" charset="-120"/>
              </a:rPr>
              <a:t>(coprime 23.5s &amp; 25.875s loops? minutes.)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457200" y="1463040"/>
            <a:ext cx="8229600" cy="457200"/>
          </a:xfrm>
          <a:prstGeom prst="rect">
            <a:avLst/>
          </a:prstGeom>
          <a:noFill/>
          <a:ln/>
        </p:spPr>
        <p:txBody>
          <a:bodyPr wrap="square" lIns="0" tIns="0" rIns="0" bIns="0" rtlCol="0" anchor="ctr"/>
          <a:lstStyle/>
          <a:p>
            <a:pPr algn="ctr" indent="0" marL="0">
              <a:buNone/>
            </a:pPr>
            <a:r>
              <a:rPr lang="en-US" sz="1800" dirty="0">
                <a:solidFill>
                  <a:srgbClr val="8A8A8A"/>
                </a:solidFill>
                <a:latin typeface="Consolas" pitchFamily="34" charset="0"/>
                <a:ea typeface="Consolas" pitchFamily="34" charset="-122"/>
                <a:cs typeface="Consolas" pitchFamily="34" charset="-120"/>
              </a:rPr>
              <a:t>cycles with coprime ratios create</a:t>
            </a:r>
            <a:endParaRPr lang="en-US" sz="1800" dirty="0"/>
          </a:p>
        </p:txBody>
      </p:sp>
      <p:sp>
        <p:nvSpPr>
          <p:cNvPr id="4" name="Text 1"/>
          <p:cNvSpPr/>
          <p:nvPr/>
        </p:nvSpPr>
        <p:spPr>
          <a:xfrm>
            <a:off x="457200" y="2011680"/>
            <a:ext cx="8229600" cy="1645920"/>
          </a:xfrm>
          <a:prstGeom prst="rect">
            <a:avLst/>
          </a:prstGeom>
          <a:noFill/>
          <a:ln/>
        </p:spPr>
        <p:txBody>
          <a:bodyPr wrap="square" lIns="0" tIns="0" rIns="0" bIns="0" rtlCol="0" anchor="ctr"/>
          <a:lstStyle/>
          <a:p>
            <a:pPr algn="ctr" indent="0" marL="0">
              <a:buNone/>
            </a:pPr>
            <a:r>
              <a:rPr lang="en-US" sz="6600" spc="200" kern="0" dirty="0">
                <a:solidFill>
                  <a:srgbClr val="8FCB9B"/>
                </a:solidFill>
                <a:latin typeface="Impact" pitchFamily="34" charset="0"/>
                <a:ea typeface="Impact" pitchFamily="34" charset="-122"/>
                <a:cs typeface="Impact" pitchFamily="34" charset="-120"/>
              </a:rPr>
              <a:t>PSEUDO-</a:t>
            </a:r>
            <a:endParaRPr lang="en-US" sz="6600" dirty="0"/>
          </a:p>
          <a:p>
            <a:pPr algn="ctr" indent="0" marL="0">
              <a:buNone/>
            </a:pPr>
            <a:r>
              <a:rPr lang="en-US" sz="6600" spc="200" kern="0" dirty="0">
                <a:solidFill>
                  <a:srgbClr val="8FCB9B"/>
                </a:solidFill>
                <a:latin typeface="Impact" pitchFamily="34" charset="0"/>
                <a:ea typeface="Impact" pitchFamily="34" charset="-122"/>
                <a:cs typeface="Impact" pitchFamily="34" charset="-120"/>
              </a:rPr>
              <a:t>RANDOMNESS</a:t>
            </a:r>
            <a:endParaRPr lang="en-US" sz="6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A1A"/>
        </a:solidFill>
      </p:bgPr>
    </p:bg>
    <p:spTree>
      <p:nvGrpSpPr>
        <p:cNvPr id="1" name=""/>
        <p:cNvGrpSpPr/>
        <p:nvPr/>
      </p:nvGrpSpPr>
      <p:grpSpPr>
        <a:xfrm>
          <a:off x="0" y="0"/>
          <a:ext cx="0" cy="0"/>
          <a:chOff x="0" y="0"/>
          <a:chExt cx="0" cy="0"/>
        </a:xfrm>
      </p:grpSpPr>
      <p:sp>
        <p:nvSpPr>
          <p:cNvPr id="3" name="Shape 0"/>
          <p:cNvSpPr/>
          <p:nvPr/>
        </p:nvSpPr>
        <p:spPr>
          <a:xfrm>
            <a:off x="0" y="0"/>
            <a:ext cx="1463040" cy="5143500"/>
          </a:xfrm>
          <a:prstGeom prst="rect">
            <a:avLst/>
          </a:prstGeom>
          <a:solidFill>
            <a:srgbClr val="EEC643"/>
          </a:solidFill>
          <a:ln/>
        </p:spPr>
      </p:sp>
      <p:sp>
        <p:nvSpPr>
          <p:cNvPr id="4" name="Text 1"/>
          <p:cNvSpPr/>
          <p:nvPr/>
        </p:nvSpPr>
        <p:spPr>
          <a:xfrm rot="16200000">
            <a:off x="-1737360" y="2377440"/>
            <a:ext cx="4572000" cy="365760"/>
          </a:xfrm>
          <a:prstGeom prst="rect">
            <a:avLst/>
          </a:prstGeom>
          <a:noFill/>
          <a:ln/>
        </p:spPr>
        <p:txBody>
          <a:bodyPr wrap="square" lIns="0" tIns="0" rIns="0" bIns="0" rtlCol="0" anchor="ctr"/>
          <a:lstStyle/>
          <a:p>
            <a:pPr algn="ctr" indent="0" marL="0">
              <a:buNone/>
            </a:pPr>
            <a:r>
              <a:rPr lang="en-US" sz="1200" b="1" spc="300" kern="0" dirty="0">
                <a:solidFill>
                  <a:srgbClr val="1A1A1A"/>
                </a:solidFill>
                <a:latin typeface="Consolas" pitchFamily="34" charset="0"/>
                <a:ea typeface="Consolas" pitchFamily="34" charset="-122"/>
                <a:cs typeface="Consolas" pitchFamily="34" charset="-120"/>
              </a:rPr>
              <a:t>CUTTABLE</a:t>
            </a:r>
            <a:endParaRPr lang="en-US" sz="1200" dirty="0"/>
          </a:p>
        </p:txBody>
      </p:sp>
      <p:sp>
        <p:nvSpPr>
          <p:cNvPr id="5" name="Text 2"/>
          <p:cNvSpPr/>
          <p:nvPr/>
        </p:nvSpPr>
        <p:spPr>
          <a:xfrm>
            <a:off x="1828800" y="548640"/>
            <a:ext cx="6858000" cy="640080"/>
          </a:xfrm>
          <a:prstGeom prst="rect">
            <a:avLst/>
          </a:prstGeom>
          <a:noFill/>
          <a:ln/>
        </p:spPr>
        <p:txBody>
          <a:bodyPr wrap="square" lIns="0" tIns="0" rIns="0" bIns="0" rtlCol="0" anchor="ctr"/>
          <a:lstStyle/>
          <a:p>
            <a:pPr indent="0" marL="0">
              <a:buNone/>
            </a:pPr>
            <a:r>
              <a:rPr lang="en-US" sz="3000" b="1" dirty="0">
                <a:solidFill>
                  <a:srgbClr val="ECECEC"/>
                </a:solidFill>
                <a:latin typeface="Consolas" pitchFamily="34" charset="0"/>
                <a:ea typeface="Consolas" pitchFamily="34" charset="-122"/>
                <a:cs typeface="Consolas" pitchFamily="34" charset="-120"/>
              </a:rPr>
              <a:t>Detour: Enigma</a:t>
            </a:r>
            <a:endParaRPr lang="en-US" sz="3000" dirty="0"/>
          </a:p>
        </p:txBody>
      </p:sp>
      <p:sp>
        <p:nvSpPr>
          <p:cNvPr id="6" name="Shape 3"/>
          <p:cNvSpPr/>
          <p:nvPr/>
        </p:nvSpPr>
        <p:spPr>
          <a:xfrm>
            <a:off x="5394960" y="1463040"/>
            <a:ext cx="3291840" cy="2011680"/>
          </a:xfrm>
          <a:prstGeom prst="rect">
            <a:avLst/>
          </a:prstGeom>
          <a:solidFill>
            <a:srgbClr val="242424"/>
          </a:solidFill>
          <a:ln w="12700">
            <a:solidFill>
              <a:srgbClr val="454545"/>
            </a:solidFill>
            <a:prstDash val="dash"/>
          </a:ln>
        </p:spPr>
      </p:sp>
      <p:sp>
        <p:nvSpPr>
          <p:cNvPr id="7" name="Text 4"/>
          <p:cNvSpPr/>
          <p:nvPr/>
        </p:nvSpPr>
        <p:spPr>
          <a:xfrm>
            <a:off x="5486400" y="1463040"/>
            <a:ext cx="3108960" cy="2011680"/>
          </a:xfrm>
          <a:prstGeom prst="rect">
            <a:avLst/>
          </a:prstGeom>
          <a:noFill/>
          <a:ln/>
        </p:spPr>
        <p:txBody>
          <a:bodyPr wrap="square" lIns="0" tIns="0" rIns="0" bIns="0" rtlCol="0" anchor="ctr"/>
          <a:lstStyle/>
          <a:p>
            <a:pPr algn="ctr" indent="0" marL="0">
              <a:buNone/>
            </a:pPr>
            <a:r>
              <a:rPr lang="en-US" sz="1400" dirty="0">
                <a:solidFill>
                  <a:srgbClr val="8A8A8A"/>
                </a:solidFill>
                <a:latin typeface="Consolas" pitchFamily="34" charset="0"/>
                <a:ea typeface="Consolas" pitchFamily="34" charset="-122"/>
                <a:cs typeface="Consolas" pitchFamily="34" charset="-120"/>
              </a:rPr>
              <a:t>[ Charlie 'Pepe Silvia' meme ]</a:t>
            </a:r>
            <a:endParaRPr lang="en-US" sz="1400" dirty="0"/>
          </a:p>
        </p:txBody>
      </p:sp>
      <p:sp>
        <p:nvSpPr>
          <p:cNvPr id="8" name="Text 5"/>
          <p:cNvSpPr/>
          <p:nvPr/>
        </p:nvSpPr>
        <p:spPr>
          <a:xfrm>
            <a:off x="1828800" y="1554480"/>
            <a:ext cx="3383280" cy="2560320"/>
          </a:xfrm>
          <a:prstGeom prst="rect">
            <a:avLst/>
          </a:prstGeom>
          <a:noFill/>
          <a:ln/>
        </p:spPr>
        <p:txBody>
          <a:bodyPr wrap="square" lIns="0" tIns="0" rIns="0" bIns="0" rtlCol="0" anchor="ctr"/>
          <a:lstStyle/>
          <a:p>
            <a:pPr algn="l" marL="342900" indent="-342900">
              <a:spcAft>
                <a:spcPts val="1000"/>
              </a:spcAft>
              <a:buSzPct val="100000"/>
              <a:buChar char="•"/>
            </a:pPr>
            <a:r>
              <a:rPr lang="en-US" sz="1400" dirty="0">
                <a:solidFill>
                  <a:srgbClr val="8FCB9B"/>
                </a:solidFill>
                <a:latin typeface="Consolas" pitchFamily="34" charset="0"/>
                <a:ea typeface="Consolas" pitchFamily="34" charset="-122"/>
                <a:cs typeface="Consolas" pitchFamily="34" charset="-120"/>
              </a:rPr>
              <a:t>pseudorandomness wasn't a gimmick — it was a weapon</a:t>
            </a:r>
            <a:endParaRPr lang="en-US" sz="1400" dirty="0"/>
          </a:p>
          <a:p>
            <a:pPr algn="l" marL="342900" indent="-342900">
              <a:spcAft>
                <a:spcPts val="1000"/>
              </a:spcAft>
              <a:buSzPct val="100000"/>
              <a:buChar char="•"/>
            </a:pPr>
            <a:r>
              <a:rPr lang="en-US" sz="1400" dirty="0">
                <a:solidFill>
                  <a:srgbClr val="ECECEC"/>
                </a:solidFill>
                <a:latin typeface="Consolas" pitchFamily="34" charset="0"/>
                <a:ea typeface="Consolas" pitchFamily="34" charset="-122"/>
                <a:cs typeface="Consolas" pitchFamily="34" charset="-120"/>
              </a:rPr>
              <a:t>breaking it is literally why we built computers</a:t>
            </a:r>
            <a:endParaRPr lang="en-US" sz="1400" dirty="0"/>
          </a:p>
          <a:p>
            <a:pPr algn="l" marL="342900" indent="-342900">
              <a:spcAft>
                <a:spcPts val="1000"/>
              </a:spcAft>
              <a:buSzPct val="100000"/>
              <a:buChar char="•"/>
            </a:pPr>
            <a:r>
              <a:rPr lang="en-US" sz="1400" dirty="0">
                <a:solidFill>
                  <a:srgbClr val="8A8A8A"/>
                </a:solidFill>
                <a:latin typeface="Consolas" pitchFamily="34" charset="0"/>
                <a:ea typeface="Consolas" pitchFamily="34" charset="-122"/>
                <a:cs typeface="Consolas" pitchFamily="34" charset="-120"/>
              </a:rPr>
              <a:t>(Turing · Bletchley Park)</a:t>
            </a:r>
            <a:endParaRPr lang="en-US" sz="1400" dirty="0"/>
          </a:p>
          <a:p>
            <a:pPr algn="l" marL="342900" indent="-342900">
              <a:spcAft>
                <a:spcPts val="1000"/>
              </a:spcAft>
              <a:buSzPct val="100000"/>
              <a:buChar char="•"/>
            </a:pPr>
            <a:r>
              <a:rPr lang="en-US" sz="1400" dirty="0">
                <a:solidFill>
                  <a:srgbClr val="ECECEC"/>
                </a:solidFill>
                <a:latin typeface="Consolas" pitchFamily="34" charset="0"/>
                <a:ea typeface="Consolas" pitchFamily="34" charset="-122"/>
                <a:cs typeface="Consolas" pitchFamily="34" charset="-120"/>
              </a:rPr>
              <a:t>same trick, different goal: complexity from simple cycles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457200" y="411480"/>
            <a:ext cx="8229600" cy="1280160"/>
          </a:xfrm>
          <a:prstGeom prst="rect">
            <a:avLst/>
          </a:prstGeom>
          <a:noFill/>
          <a:ln/>
        </p:spPr>
        <p:txBody>
          <a:bodyPr wrap="square" lIns="0" tIns="0" rIns="0" bIns="0" rtlCol="0" anchor="ctr"/>
          <a:lstStyle/>
          <a:p>
            <a:pPr algn="ctr" indent="0" marL="0">
              <a:buNone/>
            </a:pPr>
            <a:r>
              <a:rPr lang="en-US" sz="3200" b="1" dirty="0">
                <a:solidFill>
                  <a:srgbClr val="ECECEC"/>
                </a:solidFill>
                <a:latin typeface="Consolas" pitchFamily="34" charset="0"/>
                <a:ea typeface="Consolas" pitchFamily="34" charset="-122"/>
                <a:cs typeface="Consolas" pitchFamily="34" charset="-120"/>
              </a:rPr>
              <a:t>Phasing</a:t>
            </a:r>
            <a:endParaRPr lang="en-US" sz="3200" dirty="0"/>
          </a:p>
        </p:txBody>
      </p:sp>
      <p:sp>
        <p:nvSpPr>
          <p:cNvPr id="4" name="Text 1"/>
          <p:cNvSpPr/>
          <p:nvPr/>
        </p:nvSpPr>
        <p:spPr>
          <a:xfrm>
            <a:off x="457200" y="1143000"/>
            <a:ext cx="8229600" cy="365760"/>
          </a:xfrm>
          <a:prstGeom prst="rect">
            <a:avLst/>
          </a:prstGeom>
          <a:noFill/>
          <a:ln/>
        </p:spPr>
        <p:txBody>
          <a:bodyPr wrap="square" lIns="0" tIns="0" rIns="0" bIns="0" rtlCol="0" anchor="ctr"/>
          <a:lstStyle/>
          <a:p>
            <a:pPr algn="ctr" indent="0" marL="0">
              <a:buNone/>
            </a:pPr>
            <a:r>
              <a:rPr lang="en-US" sz="1400" dirty="0">
                <a:solidFill>
                  <a:srgbClr val="8A8A8A"/>
                </a:solidFill>
                <a:latin typeface="Consolas" pitchFamily="34" charset="0"/>
                <a:ea typeface="Consolas" pitchFamily="34" charset="-122"/>
                <a:cs typeface="Consolas" pitchFamily="34" charset="-120"/>
              </a:rPr>
              <a:t>the audible version of a moiré pattern</a:t>
            </a:r>
            <a:endParaRPr lang="en-US" sz="1400" dirty="0"/>
          </a:p>
        </p:txBody>
      </p:sp>
      <p:sp>
        <p:nvSpPr>
          <p:cNvPr id="5" name="Shape 2"/>
          <p:cNvSpPr/>
          <p:nvPr/>
        </p:nvSpPr>
        <p:spPr>
          <a:xfrm>
            <a:off x="640080" y="1737360"/>
            <a:ext cx="3840480" cy="2377440"/>
          </a:xfrm>
          <a:prstGeom prst="rect">
            <a:avLst/>
          </a:prstGeom>
          <a:solidFill>
            <a:srgbClr val="242424"/>
          </a:solidFill>
          <a:ln w="12700">
            <a:solidFill>
              <a:srgbClr val="454545"/>
            </a:solidFill>
            <a:prstDash val="dash"/>
          </a:ln>
        </p:spPr>
      </p:sp>
      <p:sp>
        <p:nvSpPr>
          <p:cNvPr id="6" name="Text 3"/>
          <p:cNvSpPr/>
          <p:nvPr/>
        </p:nvSpPr>
        <p:spPr>
          <a:xfrm>
            <a:off x="731520" y="1737360"/>
            <a:ext cx="3657600" cy="2377440"/>
          </a:xfrm>
          <a:prstGeom prst="rect">
            <a:avLst/>
          </a:prstGeom>
          <a:noFill/>
          <a:ln/>
        </p:spPr>
        <p:txBody>
          <a:bodyPr wrap="square" lIns="0" tIns="0" rIns="0" bIns="0" rtlCol="0" anchor="ctr"/>
          <a:lstStyle/>
          <a:p>
            <a:pPr algn="ctr" indent="0" marL="0">
              <a:buNone/>
            </a:pPr>
            <a:r>
              <a:rPr lang="en-US" sz="1400" dirty="0">
                <a:solidFill>
                  <a:srgbClr val="8A8A8A"/>
                </a:solidFill>
                <a:latin typeface="Consolas" pitchFamily="34" charset="0"/>
                <a:ea typeface="Consolas" pitchFamily="34" charset="-122"/>
                <a:cs typeface="Consolas" pitchFamily="34" charset="-120"/>
              </a:rPr>
              <a:t>[ moiré pattern image ]</a:t>
            </a:r>
            <a:endParaRPr lang="en-US" sz="1400" dirty="0"/>
          </a:p>
        </p:txBody>
      </p:sp>
      <p:sp>
        <p:nvSpPr>
          <p:cNvPr id="7" name="Shape 4"/>
          <p:cNvSpPr/>
          <p:nvPr/>
        </p:nvSpPr>
        <p:spPr>
          <a:xfrm>
            <a:off x="4663440" y="1737360"/>
            <a:ext cx="3840480" cy="2377440"/>
          </a:xfrm>
          <a:prstGeom prst="rect">
            <a:avLst/>
          </a:prstGeom>
          <a:solidFill>
            <a:srgbClr val="242424"/>
          </a:solidFill>
          <a:ln w="12700">
            <a:solidFill>
              <a:srgbClr val="454545"/>
            </a:solidFill>
            <a:prstDash val="dash"/>
          </a:ln>
        </p:spPr>
      </p:sp>
      <p:sp>
        <p:nvSpPr>
          <p:cNvPr id="8" name="Text 5"/>
          <p:cNvSpPr/>
          <p:nvPr/>
        </p:nvSpPr>
        <p:spPr>
          <a:xfrm>
            <a:off x="4754880" y="1737360"/>
            <a:ext cx="3657600" cy="2377440"/>
          </a:xfrm>
          <a:prstGeom prst="rect">
            <a:avLst/>
          </a:prstGeom>
          <a:noFill/>
          <a:ln/>
        </p:spPr>
        <p:txBody>
          <a:bodyPr wrap="square" lIns="0" tIns="0" rIns="0" bIns="0" rtlCol="0" anchor="ctr"/>
          <a:lstStyle/>
          <a:p>
            <a:pPr algn="ctr" indent="0" marL="0">
              <a:buNone/>
            </a:pPr>
            <a:r>
              <a:rPr lang="en-US" sz="1400" dirty="0">
                <a:solidFill>
                  <a:srgbClr val="8A8A8A"/>
                </a:solidFill>
                <a:latin typeface="Consolas" pitchFamily="34" charset="0"/>
                <a:ea typeface="Consolas" pitchFamily="34" charset="-122"/>
                <a:cs typeface="Consolas" pitchFamily="34" charset="-120"/>
              </a:rPr>
              <a:t>[ Steve Reich —</a:t>
            </a:r>
            <a:endParaRPr lang="en-US" sz="1400" dirty="0"/>
          </a:p>
          <a:p>
            <a:pPr algn="ctr" indent="0" marL="0">
              <a:buNone/>
            </a:pPr>
            <a:r>
              <a:rPr lang="en-US" sz="1400" dirty="0">
                <a:solidFill>
                  <a:srgbClr val="8A8A8A"/>
                </a:solidFill>
                <a:latin typeface="Consolas" pitchFamily="34" charset="0"/>
                <a:ea typeface="Consolas" pitchFamily="34" charset="-122"/>
                <a:cs typeface="Consolas" pitchFamily="34" charset="-120"/>
              </a:rPr>
              <a:t>Piano Phase video ]</a:t>
            </a:r>
            <a:endParaRPr lang="en-US" sz="1400" dirty="0"/>
          </a:p>
        </p:txBody>
      </p:sp>
      <p:sp>
        <p:nvSpPr>
          <p:cNvPr id="9" name="Text 6"/>
          <p:cNvSpPr/>
          <p:nvPr/>
        </p:nvSpPr>
        <p:spPr>
          <a:xfrm>
            <a:off x="457200" y="4343400"/>
            <a:ext cx="8229600" cy="457200"/>
          </a:xfrm>
          <a:prstGeom prst="rect">
            <a:avLst/>
          </a:prstGeom>
          <a:noFill/>
          <a:ln/>
        </p:spPr>
        <p:txBody>
          <a:bodyPr wrap="square" lIns="0" tIns="0" rIns="0" bIns="0" rtlCol="0" anchor="ctr"/>
          <a:lstStyle/>
          <a:p>
            <a:pPr algn="ctr" indent="0" marL="0">
              <a:buNone/>
            </a:pPr>
            <a:r>
              <a:rPr lang="en-US" sz="1350" dirty="0">
                <a:solidFill>
                  <a:srgbClr val="8FCB9B"/>
                </a:solidFill>
                <a:latin typeface="Consolas" pitchFamily="34" charset="0"/>
                <a:ea typeface="Consolas" pitchFamily="34" charset="-122"/>
                <a:cs typeface="Consolas" pitchFamily="34" charset="-120"/>
              </a:rPr>
              <a:t>▶ DEMO: open the timeline view — tapes of different lengths passing one playhead</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457200" y="640080"/>
            <a:ext cx="8229600" cy="914400"/>
          </a:xfrm>
          <a:prstGeom prst="rect">
            <a:avLst/>
          </a:prstGeom>
          <a:noFill/>
          <a:ln/>
        </p:spPr>
        <p:txBody>
          <a:bodyPr wrap="square" lIns="0" tIns="0" rIns="0" bIns="0" rtlCol="0" anchor="ctr"/>
          <a:lstStyle/>
          <a:p>
            <a:pPr algn="ctr" indent="0" marL="0">
              <a:buNone/>
            </a:pPr>
            <a:r>
              <a:rPr lang="en-US" sz="4800" b="1" dirty="0">
                <a:solidFill>
                  <a:srgbClr val="ECECEC"/>
                </a:solidFill>
                <a:latin typeface="Consolas" pitchFamily="34" charset="0"/>
                <a:ea typeface="Consolas" pitchFamily="34" charset="-122"/>
                <a:cs typeface="Consolas" pitchFamily="34" charset="-120"/>
              </a:rPr>
              <a:t>TIME = SPACE</a:t>
            </a:r>
            <a:endParaRPr lang="en-US" sz="4800" dirty="0"/>
          </a:p>
        </p:txBody>
      </p:sp>
      <p:sp>
        <p:nvSpPr>
          <p:cNvPr id="4" name="Text 1"/>
          <p:cNvSpPr/>
          <p:nvPr/>
        </p:nvSpPr>
        <p:spPr>
          <a:xfrm>
            <a:off x="914400" y="2011680"/>
            <a:ext cx="3017520" cy="640080"/>
          </a:xfrm>
          <a:prstGeom prst="rect">
            <a:avLst/>
          </a:prstGeom>
          <a:noFill/>
          <a:ln/>
        </p:spPr>
        <p:txBody>
          <a:bodyPr wrap="square" lIns="0" tIns="0" rIns="0" bIns="0" rtlCol="0" anchor="ctr"/>
          <a:lstStyle/>
          <a:p>
            <a:pPr algn="r" indent="0" marL="0">
              <a:buNone/>
            </a:pPr>
            <a:r>
              <a:rPr lang="en-US" sz="2600" dirty="0">
                <a:solidFill>
                  <a:srgbClr val="ECECEC"/>
                </a:solidFill>
                <a:latin typeface="Consolas" pitchFamily="34" charset="0"/>
                <a:ea typeface="Consolas" pitchFamily="34" charset="-122"/>
                <a:cs typeface="Consolas" pitchFamily="34" charset="-120"/>
              </a:rPr>
              <a:t>Rhythm</a:t>
            </a:r>
            <a:endParaRPr lang="en-US" sz="2600" dirty="0"/>
          </a:p>
        </p:txBody>
      </p:sp>
      <p:sp>
        <p:nvSpPr>
          <p:cNvPr id="5" name="Text 2"/>
          <p:cNvSpPr/>
          <p:nvPr/>
        </p:nvSpPr>
        <p:spPr>
          <a:xfrm>
            <a:off x="4023360" y="2011680"/>
            <a:ext cx="1097280" cy="640080"/>
          </a:xfrm>
          <a:prstGeom prst="rect">
            <a:avLst/>
          </a:prstGeom>
          <a:noFill/>
          <a:ln/>
        </p:spPr>
        <p:txBody>
          <a:bodyPr wrap="square" lIns="0" tIns="0" rIns="0" bIns="0" rtlCol="0" anchor="ctr"/>
          <a:lstStyle/>
          <a:p>
            <a:pPr algn="ctr" indent="0" marL="0">
              <a:buNone/>
            </a:pPr>
            <a:r>
              <a:rPr lang="en-US" sz="2600" dirty="0">
                <a:solidFill>
                  <a:srgbClr val="8FCB9B"/>
                </a:solidFill>
                <a:latin typeface="Consolas" pitchFamily="34" charset="0"/>
                <a:ea typeface="Consolas" pitchFamily="34" charset="-122"/>
                <a:cs typeface="Consolas" pitchFamily="34" charset="-120"/>
              </a:rPr>
              <a:t>=</a:t>
            </a:r>
            <a:endParaRPr lang="en-US" sz="2600" dirty="0"/>
          </a:p>
        </p:txBody>
      </p:sp>
      <p:sp>
        <p:nvSpPr>
          <p:cNvPr id="6" name="Text 3"/>
          <p:cNvSpPr/>
          <p:nvPr/>
        </p:nvSpPr>
        <p:spPr>
          <a:xfrm>
            <a:off x="5212080" y="2011680"/>
            <a:ext cx="3017520" cy="640080"/>
          </a:xfrm>
          <a:prstGeom prst="rect">
            <a:avLst/>
          </a:prstGeom>
          <a:noFill/>
          <a:ln/>
        </p:spPr>
        <p:txBody>
          <a:bodyPr wrap="square" lIns="0" tIns="0" rIns="0" bIns="0" rtlCol="0" anchor="ctr"/>
          <a:lstStyle/>
          <a:p>
            <a:pPr algn="l" indent="0" marL="0">
              <a:buNone/>
            </a:pPr>
            <a:r>
              <a:rPr lang="en-US" sz="2600" dirty="0">
                <a:solidFill>
                  <a:srgbClr val="ECECEC"/>
                </a:solidFill>
                <a:latin typeface="Consolas" pitchFamily="34" charset="0"/>
                <a:ea typeface="Consolas" pitchFamily="34" charset="-122"/>
                <a:cs typeface="Consolas" pitchFamily="34" charset="-120"/>
              </a:rPr>
              <a:t>Pitch</a:t>
            </a:r>
            <a:endParaRPr lang="en-US" sz="2600" dirty="0"/>
          </a:p>
        </p:txBody>
      </p:sp>
      <p:sp>
        <p:nvSpPr>
          <p:cNvPr id="7" name="Text 4"/>
          <p:cNvSpPr/>
          <p:nvPr/>
        </p:nvSpPr>
        <p:spPr>
          <a:xfrm>
            <a:off x="914400" y="2788920"/>
            <a:ext cx="3017520" cy="640080"/>
          </a:xfrm>
          <a:prstGeom prst="rect">
            <a:avLst/>
          </a:prstGeom>
          <a:noFill/>
          <a:ln/>
        </p:spPr>
        <p:txBody>
          <a:bodyPr wrap="square" lIns="0" tIns="0" rIns="0" bIns="0" rtlCol="0" anchor="ctr"/>
          <a:lstStyle/>
          <a:p>
            <a:pPr algn="r" indent="0" marL="0">
              <a:buNone/>
            </a:pPr>
            <a:r>
              <a:rPr lang="en-US" sz="2600" dirty="0">
                <a:solidFill>
                  <a:srgbClr val="ECECEC"/>
                </a:solidFill>
                <a:latin typeface="Consolas" pitchFamily="34" charset="0"/>
                <a:ea typeface="Consolas" pitchFamily="34" charset="-122"/>
                <a:cs typeface="Consolas" pitchFamily="34" charset="-120"/>
              </a:rPr>
              <a:t>BPM</a:t>
            </a:r>
            <a:endParaRPr lang="en-US" sz="2600" dirty="0"/>
          </a:p>
        </p:txBody>
      </p:sp>
      <p:sp>
        <p:nvSpPr>
          <p:cNvPr id="8" name="Text 5"/>
          <p:cNvSpPr/>
          <p:nvPr/>
        </p:nvSpPr>
        <p:spPr>
          <a:xfrm>
            <a:off x="4023360" y="2788920"/>
            <a:ext cx="1097280" cy="640080"/>
          </a:xfrm>
          <a:prstGeom prst="rect">
            <a:avLst/>
          </a:prstGeom>
          <a:noFill/>
          <a:ln/>
        </p:spPr>
        <p:txBody>
          <a:bodyPr wrap="square" lIns="0" tIns="0" rIns="0" bIns="0" rtlCol="0" anchor="ctr"/>
          <a:lstStyle/>
          <a:p>
            <a:pPr algn="ctr" indent="0" marL="0">
              <a:buNone/>
            </a:pPr>
            <a:r>
              <a:rPr lang="en-US" sz="2600" dirty="0">
                <a:solidFill>
                  <a:srgbClr val="8FCB9B"/>
                </a:solidFill>
                <a:latin typeface="Consolas" pitchFamily="34" charset="0"/>
                <a:ea typeface="Consolas" pitchFamily="34" charset="-122"/>
                <a:cs typeface="Consolas" pitchFamily="34" charset="-120"/>
              </a:rPr>
              <a:t>=</a:t>
            </a:r>
            <a:endParaRPr lang="en-US" sz="2600" dirty="0"/>
          </a:p>
        </p:txBody>
      </p:sp>
      <p:sp>
        <p:nvSpPr>
          <p:cNvPr id="9" name="Text 6"/>
          <p:cNvSpPr/>
          <p:nvPr/>
        </p:nvSpPr>
        <p:spPr>
          <a:xfrm>
            <a:off x="5212080" y="2788920"/>
            <a:ext cx="3017520" cy="640080"/>
          </a:xfrm>
          <a:prstGeom prst="rect">
            <a:avLst/>
          </a:prstGeom>
          <a:noFill/>
          <a:ln/>
        </p:spPr>
        <p:txBody>
          <a:bodyPr wrap="square" lIns="0" tIns="0" rIns="0" bIns="0" rtlCol="0" anchor="ctr"/>
          <a:lstStyle/>
          <a:p>
            <a:pPr algn="l" indent="0" marL="0">
              <a:buNone/>
            </a:pPr>
            <a:r>
              <a:rPr lang="en-US" sz="2600" dirty="0">
                <a:solidFill>
                  <a:srgbClr val="ECECEC"/>
                </a:solidFill>
                <a:latin typeface="Consolas" pitchFamily="34" charset="0"/>
                <a:ea typeface="Consolas" pitchFamily="34" charset="-122"/>
                <a:cs typeface="Consolas" pitchFamily="34" charset="-120"/>
              </a:rPr>
              <a:t>Hz</a:t>
            </a:r>
            <a:endParaRPr lang="en-US" sz="2600" dirty="0"/>
          </a:p>
        </p:txBody>
      </p:sp>
      <p:sp>
        <p:nvSpPr>
          <p:cNvPr id="10" name="Text 7"/>
          <p:cNvSpPr/>
          <p:nvPr/>
        </p:nvSpPr>
        <p:spPr>
          <a:xfrm>
            <a:off x="914400" y="3566160"/>
            <a:ext cx="3017520" cy="640080"/>
          </a:xfrm>
          <a:prstGeom prst="rect">
            <a:avLst/>
          </a:prstGeom>
          <a:noFill/>
          <a:ln/>
        </p:spPr>
        <p:txBody>
          <a:bodyPr wrap="square" lIns="0" tIns="0" rIns="0" bIns="0" rtlCol="0" anchor="ctr"/>
          <a:lstStyle/>
          <a:p>
            <a:pPr algn="r" indent="0" marL="0">
              <a:buNone/>
            </a:pPr>
            <a:r>
              <a:rPr lang="en-US" sz="2600" dirty="0">
                <a:solidFill>
                  <a:srgbClr val="8A8A8A"/>
                </a:solidFill>
                <a:latin typeface="Consolas" pitchFamily="34" charset="0"/>
                <a:ea typeface="Consolas" pitchFamily="34" charset="-122"/>
                <a:cs typeface="Consolas" pitchFamily="34" charset="-120"/>
              </a:rPr>
              <a:t>"how often?"</a:t>
            </a:r>
            <a:endParaRPr lang="en-US" sz="2600" dirty="0"/>
          </a:p>
        </p:txBody>
      </p:sp>
      <p:sp>
        <p:nvSpPr>
          <p:cNvPr id="11" name="Text 8"/>
          <p:cNvSpPr/>
          <p:nvPr/>
        </p:nvSpPr>
        <p:spPr>
          <a:xfrm>
            <a:off x="4023360" y="3566160"/>
            <a:ext cx="1097280" cy="640080"/>
          </a:xfrm>
          <a:prstGeom prst="rect">
            <a:avLst/>
          </a:prstGeom>
          <a:noFill/>
          <a:ln/>
        </p:spPr>
        <p:txBody>
          <a:bodyPr wrap="square" lIns="0" tIns="0" rIns="0" bIns="0" rtlCol="0" anchor="ctr"/>
          <a:lstStyle/>
          <a:p>
            <a:pPr algn="ctr" indent="0" marL="0">
              <a:buNone/>
            </a:pPr>
            <a:r>
              <a:rPr lang="en-US" sz="2600" dirty="0">
                <a:solidFill>
                  <a:srgbClr val="8FCB9B"/>
                </a:solidFill>
                <a:latin typeface="Consolas" pitchFamily="34" charset="0"/>
                <a:ea typeface="Consolas" pitchFamily="34" charset="-122"/>
                <a:cs typeface="Consolas" pitchFamily="34" charset="-120"/>
              </a:rPr>
              <a:t>=</a:t>
            </a:r>
            <a:endParaRPr lang="en-US" sz="2600" dirty="0"/>
          </a:p>
        </p:txBody>
      </p:sp>
      <p:sp>
        <p:nvSpPr>
          <p:cNvPr id="12" name="Text 9"/>
          <p:cNvSpPr/>
          <p:nvPr/>
        </p:nvSpPr>
        <p:spPr>
          <a:xfrm>
            <a:off x="5212080" y="3566160"/>
            <a:ext cx="3017520" cy="640080"/>
          </a:xfrm>
          <a:prstGeom prst="rect">
            <a:avLst/>
          </a:prstGeom>
          <a:noFill/>
          <a:ln/>
        </p:spPr>
        <p:txBody>
          <a:bodyPr wrap="square" lIns="0" tIns="0" rIns="0" bIns="0" rtlCol="0" anchor="ctr"/>
          <a:lstStyle/>
          <a:p>
            <a:pPr algn="l" indent="0" marL="0">
              <a:buNone/>
            </a:pPr>
            <a:r>
              <a:rPr lang="en-US" sz="2600" dirty="0">
                <a:solidFill>
                  <a:srgbClr val="8A8A8A"/>
                </a:solidFill>
                <a:latin typeface="Consolas" pitchFamily="34" charset="0"/>
                <a:ea typeface="Consolas" pitchFamily="34" charset="-122"/>
                <a:cs typeface="Consolas" pitchFamily="34" charset="-120"/>
              </a:rPr>
              <a:t>"how often?"</a:t>
            </a:r>
            <a:endParaRPr lang="en-US" sz="2600" dirty="0"/>
          </a:p>
        </p:txBody>
      </p:sp>
      <p:sp>
        <p:nvSpPr>
          <p:cNvPr id="13" name="Text 10"/>
          <p:cNvSpPr/>
          <p:nvPr/>
        </p:nvSpPr>
        <p:spPr>
          <a:xfrm>
            <a:off x="457200" y="4572000"/>
            <a:ext cx="8229600" cy="365760"/>
          </a:xfrm>
          <a:prstGeom prst="rect">
            <a:avLst/>
          </a:prstGeom>
          <a:noFill/>
          <a:ln/>
        </p:spPr>
        <p:txBody>
          <a:bodyPr wrap="square" lIns="0" tIns="0" rIns="0" bIns="0" rtlCol="0" anchor="ctr"/>
          <a:lstStyle/>
          <a:p>
            <a:pPr algn="ctr" indent="0" marL="0">
              <a:buNone/>
            </a:pPr>
            <a:r>
              <a:rPr lang="en-US" sz="1400" i="1" dirty="0">
                <a:solidFill>
                  <a:srgbClr val="EEC643"/>
                </a:solidFill>
                <a:latin typeface="Consolas" pitchFamily="34" charset="0"/>
                <a:ea typeface="Consolas" pitchFamily="34" charset="-122"/>
                <a:cs typeface="Consolas" pitchFamily="34" charset="-120"/>
              </a:rPr>
              <a:t>a rhythm, sped up enough, becomes a pitch</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A1A"/>
        </a:solidFill>
      </p:bgPr>
    </p:bg>
    <p:spTree>
      <p:nvGrpSpPr>
        <p:cNvPr id="1" name=""/>
        <p:cNvGrpSpPr/>
        <p:nvPr/>
      </p:nvGrpSpPr>
      <p:grpSpPr>
        <a:xfrm>
          <a:off x="0" y="0"/>
          <a:ext cx="0" cy="0"/>
          <a:chOff x="0" y="0"/>
          <a:chExt cx="0" cy="0"/>
        </a:xfrm>
      </p:grpSpPr>
      <p:sp>
        <p:nvSpPr>
          <p:cNvPr id="3" name="Shape 0"/>
          <p:cNvSpPr/>
          <p:nvPr/>
        </p:nvSpPr>
        <p:spPr>
          <a:xfrm>
            <a:off x="0" y="0"/>
            <a:ext cx="9144000" cy="5143500"/>
          </a:xfrm>
          <a:prstGeom prst="rect">
            <a:avLst/>
          </a:prstGeom>
          <a:solidFill>
            <a:srgbClr val="141414"/>
          </a:solidFill>
          <a:ln/>
        </p:spPr>
      </p:sp>
      <p:sp>
        <p:nvSpPr>
          <p:cNvPr id="4" name="Text 1"/>
          <p:cNvSpPr/>
          <p:nvPr/>
        </p:nvSpPr>
        <p:spPr>
          <a:xfrm>
            <a:off x="457200" y="1280160"/>
            <a:ext cx="8229600" cy="457200"/>
          </a:xfrm>
          <a:prstGeom prst="rect">
            <a:avLst/>
          </a:prstGeom>
          <a:noFill/>
          <a:ln/>
        </p:spPr>
        <p:txBody>
          <a:bodyPr wrap="square" lIns="0" tIns="0" rIns="0" bIns="0" rtlCol="0" anchor="ctr"/>
          <a:lstStyle/>
          <a:p>
            <a:pPr algn="ctr" indent="0" marL="0">
              <a:buNone/>
            </a:pPr>
            <a:r>
              <a:rPr lang="en-US" sz="1600" spc="400" kern="0" dirty="0">
                <a:solidFill>
                  <a:srgbClr val="EEC643"/>
                </a:solidFill>
                <a:latin typeface="Consolas" pitchFamily="34" charset="0"/>
                <a:ea typeface="Consolas" pitchFamily="34" charset="-122"/>
                <a:cs typeface="Consolas" pitchFamily="34" charset="-120"/>
              </a:rPr>
              <a:t>OPTIONAL DEPTH</a:t>
            </a:r>
            <a:endParaRPr lang="en-US" sz="1600" dirty="0"/>
          </a:p>
        </p:txBody>
      </p:sp>
      <p:sp>
        <p:nvSpPr>
          <p:cNvPr id="5" name="Text 2"/>
          <p:cNvSpPr/>
          <p:nvPr/>
        </p:nvSpPr>
        <p:spPr>
          <a:xfrm>
            <a:off x="457200" y="1920240"/>
            <a:ext cx="8229600" cy="822960"/>
          </a:xfrm>
          <a:prstGeom prst="rect">
            <a:avLst/>
          </a:prstGeom>
          <a:noFill/>
          <a:ln/>
        </p:spPr>
        <p:txBody>
          <a:bodyPr wrap="square" lIns="0" tIns="0" rIns="0" bIns="0" rtlCol="0" anchor="ctr"/>
          <a:lstStyle/>
          <a:p>
            <a:pPr algn="ctr" indent="0" marL="0">
              <a:buNone/>
            </a:pPr>
            <a:r>
              <a:rPr lang="en-US" sz="3400" b="1" dirty="0">
                <a:solidFill>
                  <a:srgbClr val="ECECEC"/>
                </a:solidFill>
                <a:latin typeface="Consolas" pitchFamily="34" charset="0"/>
                <a:ea typeface="Consolas" pitchFamily="34" charset="-122"/>
                <a:cs typeface="Consolas" pitchFamily="34" charset="-120"/>
              </a:rPr>
              <a:t>tuning · 12-TET · ratios</a:t>
            </a:r>
            <a:endParaRPr lang="en-US" sz="3400" dirty="0"/>
          </a:p>
        </p:txBody>
      </p:sp>
      <p:sp>
        <p:nvSpPr>
          <p:cNvPr id="6" name="Text 3"/>
          <p:cNvSpPr/>
          <p:nvPr/>
        </p:nvSpPr>
        <p:spPr>
          <a:xfrm>
            <a:off x="457200" y="3017520"/>
            <a:ext cx="8229600" cy="822960"/>
          </a:xfrm>
          <a:prstGeom prst="rect">
            <a:avLst/>
          </a:prstGeom>
          <a:noFill/>
          <a:ln/>
        </p:spPr>
        <p:txBody>
          <a:bodyPr wrap="square" lIns="0" tIns="0" rIns="0" bIns="0" rtlCol="0" anchor="ctr"/>
          <a:lstStyle/>
          <a:p>
            <a:pPr algn="ctr" indent="0" marL="0">
              <a:buNone/>
            </a:pPr>
            <a:r>
              <a:rPr lang="en-US" sz="1300" dirty="0">
                <a:solidFill>
                  <a:srgbClr val="8A8A8A"/>
                </a:solidFill>
                <a:latin typeface="Consolas" pitchFamily="34" charset="0"/>
                <a:ea typeface="Consolas" pitchFamily="34" charset="-122"/>
                <a:cs typeface="Consolas" pitchFamily="34" charset="-120"/>
              </a:rPr>
              <a:t>only if time &amp; energy are high — no app control maps here, so it's the safe cut</a:t>
            </a:r>
            <a:endParaRPr lang="en-US" sz="1300" dirty="0"/>
          </a:p>
          <a:p>
            <a:pPr algn="ctr" indent="0" marL="0">
              <a:buNone/>
            </a:pPr>
            <a:r>
              <a:rPr lang="en-US" sz="1300" dirty="0">
                <a:solidFill>
                  <a:srgbClr val="8A8A8A"/>
                </a:solidFill>
                <a:latin typeface="Consolas" pitchFamily="34" charset="0"/>
                <a:ea typeface="Consolas" pitchFamily="34" charset="-122"/>
                <a:cs typeface="Consolas" pitchFamily="34" charset="-120"/>
              </a:rPr>
              <a:t>(reuse the waveform / octave-fifth / 2^(7/12) slides from the old deck)</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457200" y="457200"/>
            <a:ext cx="8229600" cy="1280160"/>
          </a:xfrm>
          <a:prstGeom prst="rect">
            <a:avLst/>
          </a:prstGeom>
          <a:noFill/>
          <a:ln/>
        </p:spPr>
        <p:txBody>
          <a:bodyPr wrap="square" lIns="0" tIns="0" rIns="0" bIns="0" rtlCol="0" anchor="ctr"/>
          <a:lstStyle/>
          <a:p>
            <a:pPr algn="ctr" indent="0" marL="0">
              <a:buNone/>
            </a:pPr>
            <a:r>
              <a:rPr lang="en-US" sz="3200" b="1" dirty="0">
                <a:solidFill>
                  <a:srgbClr val="ECECEC"/>
                </a:solidFill>
                <a:latin typeface="Consolas" pitchFamily="34" charset="0"/>
                <a:ea typeface="Consolas" pitchFamily="34" charset="-122"/>
                <a:cs typeface="Consolas" pitchFamily="34" charset="-120"/>
              </a:rPr>
              <a:t>Why do scales exist?</a:t>
            </a:r>
            <a:endParaRPr lang="en-US" sz="3200" dirty="0"/>
          </a:p>
        </p:txBody>
      </p:sp>
      <p:sp>
        <p:nvSpPr>
          <p:cNvPr id="4" name="Shape 1"/>
          <p:cNvSpPr/>
          <p:nvPr/>
        </p:nvSpPr>
        <p:spPr>
          <a:xfrm>
            <a:off x="914400" y="1554480"/>
            <a:ext cx="470263" cy="1222683"/>
          </a:xfrm>
          <a:prstGeom prst="rect">
            <a:avLst/>
          </a:prstGeom>
          <a:solidFill>
            <a:srgbClr val="7FA8D4"/>
          </a:solidFill>
          <a:ln w="12700">
            <a:solidFill>
              <a:srgbClr val="1A1A1A"/>
            </a:solidFill>
            <a:prstDash val="solid"/>
          </a:ln>
        </p:spPr>
      </p:sp>
      <p:sp>
        <p:nvSpPr>
          <p:cNvPr id="5" name="Text 2"/>
          <p:cNvSpPr/>
          <p:nvPr/>
        </p:nvSpPr>
        <p:spPr>
          <a:xfrm>
            <a:off x="914400" y="2484555"/>
            <a:ext cx="470263" cy="274320"/>
          </a:xfrm>
          <a:prstGeom prst="rect">
            <a:avLst/>
          </a:prstGeom>
          <a:noFill/>
          <a:ln/>
        </p:spPr>
        <p:txBody>
          <a:bodyPr wrap="square" lIns="0" tIns="0" rIns="0" bIns="0" rtlCol="0" anchor="ctr"/>
          <a:lstStyle/>
          <a:p>
            <a:pPr algn="ctr" indent="0" marL="0">
              <a:buNone/>
            </a:pPr>
            <a:r>
              <a:rPr lang="en-US" sz="1100" dirty="0">
                <a:solidFill>
                  <a:srgbClr val="1A1A1A"/>
                </a:solidFill>
                <a:latin typeface="Consolas" pitchFamily="34" charset="0"/>
                <a:ea typeface="Consolas" pitchFamily="34" charset="-122"/>
                <a:cs typeface="Consolas" pitchFamily="34" charset="-120"/>
              </a:rPr>
              <a:t>C</a:t>
            </a:r>
            <a:endParaRPr lang="en-US" sz="1100" dirty="0"/>
          </a:p>
        </p:txBody>
      </p:sp>
      <p:sp>
        <p:nvSpPr>
          <p:cNvPr id="6" name="Shape 3"/>
          <p:cNvSpPr/>
          <p:nvPr/>
        </p:nvSpPr>
        <p:spPr>
          <a:xfrm>
            <a:off x="1384663" y="1554480"/>
            <a:ext cx="470263" cy="1222683"/>
          </a:xfrm>
          <a:prstGeom prst="rect">
            <a:avLst/>
          </a:prstGeom>
          <a:solidFill>
            <a:srgbClr val="7FA8D4"/>
          </a:solidFill>
          <a:ln w="12700">
            <a:solidFill>
              <a:srgbClr val="1A1A1A"/>
            </a:solidFill>
            <a:prstDash val="solid"/>
          </a:ln>
        </p:spPr>
      </p:sp>
      <p:sp>
        <p:nvSpPr>
          <p:cNvPr id="7" name="Text 4"/>
          <p:cNvSpPr/>
          <p:nvPr/>
        </p:nvSpPr>
        <p:spPr>
          <a:xfrm>
            <a:off x="1384663" y="2484555"/>
            <a:ext cx="470263" cy="274320"/>
          </a:xfrm>
          <a:prstGeom prst="rect">
            <a:avLst/>
          </a:prstGeom>
          <a:noFill/>
          <a:ln/>
        </p:spPr>
        <p:txBody>
          <a:bodyPr wrap="square" lIns="0" tIns="0" rIns="0" bIns="0" rtlCol="0" anchor="ctr"/>
          <a:lstStyle/>
          <a:p>
            <a:pPr algn="ctr" indent="0" marL="0">
              <a:buNone/>
            </a:pPr>
            <a:r>
              <a:rPr lang="en-US" sz="1100" dirty="0">
                <a:solidFill>
                  <a:srgbClr val="1A1A1A"/>
                </a:solidFill>
                <a:latin typeface="Consolas" pitchFamily="34" charset="0"/>
                <a:ea typeface="Consolas" pitchFamily="34" charset="-122"/>
                <a:cs typeface="Consolas" pitchFamily="34" charset="-120"/>
              </a:rPr>
              <a:t>D</a:t>
            </a:r>
            <a:endParaRPr lang="en-US" sz="1100" dirty="0"/>
          </a:p>
        </p:txBody>
      </p:sp>
      <p:sp>
        <p:nvSpPr>
          <p:cNvPr id="8" name="Shape 5"/>
          <p:cNvSpPr/>
          <p:nvPr/>
        </p:nvSpPr>
        <p:spPr>
          <a:xfrm>
            <a:off x="1854926" y="1554480"/>
            <a:ext cx="470263" cy="1222683"/>
          </a:xfrm>
          <a:prstGeom prst="rect">
            <a:avLst/>
          </a:prstGeom>
          <a:solidFill>
            <a:srgbClr val="7FA8D4"/>
          </a:solidFill>
          <a:ln w="12700">
            <a:solidFill>
              <a:srgbClr val="1A1A1A"/>
            </a:solidFill>
            <a:prstDash val="solid"/>
          </a:ln>
        </p:spPr>
      </p:sp>
      <p:sp>
        <p:nvSpPr>
          <p:cNvPr id="9" name="Text 6"/>
          <p:cNvSpPr/>
          <p:nvPr/>
        </p:nvSpPr>
        <p:spPr>
          <a:xfrm>
            <a:off x="1854926" y="2484555"/>
            <a:ext cx="470263" cy="274320"/>
          </a:xfrm>
          <a:prstGeom prst="rect">
            <a:avLst/>
          </a:prstGeom>
          <a:noFill/>
          <a:ln/>
        </p:spPr>
        <p:txBody>
          <a:bodyPr wrap="square" lIns="0" tIns="0" rIns="0" bIns="0" rtlCol="0" anchor="ctr"/>
          <a:lstStyle/>
          <a:p>
            <a:pPr algn="ctr" indent="0" marL="0">
              <a:buNone/>
            </a:pPr>
            <a:r>
              <a:rPr lang="en-US" sz="1100" dirty="0">
                <a:solidFill>
                  <a:srgbClr val="1A1A1A"/>
                </a:solidFill>
                <a:latin typeface="Consolas" pitchFamily="34" charset="0"/>
                <a:ea typeface="Consolas" pitchFamily="34" charset="-122"/>
                <a:cs typeface="Consolas" pitchFamily="34" charset="-120"/>
              </a:rPr>
              <a:t>E</a:t>
            </a:r>
            <a:endParaRPr lang="en-US" sz="1100" dirty="0"/>
          </a:p>
        </p:txBody>
      </p:sp>
      <p:sp>
        <p:nvSpPr>
          <p:cNvPr id="10" name="Shape 7"/>
          <p:cNvSpPr/>
          <p:nvPr/>
        </p:nvSpPr>
        <p:spPr>
          <a:xfrm>
            <a:off x="2325189" y="1554480"/>
            <a:ext cx="470263" cy="1222683"/>
          </a:xfrm>
          <a:prstGeom prst="rect">
            <a:avLst/>
          </a:prstGeom>
          <a:solidFill>
            <a:srgbClr val="7FA8D4"/>
          </a:solidFill>
          <a:ln w="12700">
            <a:solidFill>
              <a:srgbClr val="1A1A1A"/>
            </a:solidFill>
            <a:prstDash val="solid"/>
          </a:ln>
        </p:spPr>
      </p:sp>
      <p:sp>
        <p:nvSpPr>
          <p:cNvPr id="11" name="Text 8"/>
          <p:cNvSpPr/>
          <p:nvPr/>
        </p:nvSpPr>
        <p:spPr>
          <a:xfrm>
            <a:off x="2325189" y="2484555"/>
            <a:ext cx="470263" cy="274320"/>
          </a:xfrm>
          <a:prstGeom prst="rect">
            <a:avLst/>
          </a:prstGeom>
          <a:noFill/>
          <a:ln/>
        </p:spPr>
        <p:txBody>
          <a:bodyPr wrap="square" lIns="0" tIns="0" rIns="0" bIns="0" rtlCol="0" anchor="ctr"/>
          <a:lstStyle/>
          <a:p>
            <a:pPr algn="ctr" indent="0" marL="0">
              <a:buNone/>
            </a:pPr>
            <a:r>
              <a:rPr lang="en-US" sz="1100" dirty="0">
                <a:solidFill>
                  <a:srgbClr val="1A1A1A"/>
                </a:solidFill>
                <a:latin typeface="Consolas" pitchFamily="34" charset="0"/>
                <a:ea typeface="Consolas" pitchFamily="34" charset="-122"/>
                <a:cs typeface="Consolas" pitchFamily="34" charset="-120"/>
              </a:rPr>
              <a:t>F</a:t>
            </a:r>
            <a:endParaRPr lang="en-US" sz="1100" dirty="0"/>
          </a:p>
        </p:txBody>
      </p:sp>
      <p:sp>
        <p:nvSpPr>
          <p:cNvPr id="12" name="Shape 9"/>
          <p:cNvSpPr/>
          <p:nvPr/>
        </p:nvSpPr>
        <p:spPr>
          <a:xfrm>
            <a:off x="2795451" y="1554480"/>
            <a:ext cx="470263" cy="1222683"/>
          </a:xfrm>
          <a:prstGeom prst="rect">
            <a:avLst/>
          </a:prstGeom>
          <a:solidFill>
            <a:srgbClr val="7FA8D4"/>
          </a:solidFill>
          <a:ln w="12700">
            <a:solidFill>
              <a:srgbClr val="1A1A1A"/>
            </a:solidFill>
            <a:prstDash val="solid"/>
          </a:ln>
        </p:spPr>
      </p:sp>
      <p:sp>
        <p:nvSpPr>
          <p:cNvPr id="13" name="Text 10"/>
          <p:cNvSpPr/>
          <p:nvPr/>
        </p:nvSpPr>
        <p:spPr>
          <a:xfrm>
            <a:off x="2795451" y="2484555"/>
            <a:ext cx="470263" cy="274320"/>
          </a:xfrm>
          <a:prstGeom prst="rect">
            <a:avLst/>
          </a:prstGeom>
          <a:noFill/>
          <a:ln/>
        </p:spPr>
        <p:txBody>
          <a:bodyPr wrap="square" lIns="0" tIns="0" rIns="0" bIns="0" rtlCol="0" anchor="ctr"/>
          <a:lstStyle/>
          <a:p>
            <a:pPr algn="ctr" indent="0" marL="0">
              <a:buNone/>
            </a:pPr>
            <a:r>
              <a:rPr lang="en-US" sz="1100" dirty="0">
                <a:solidFill>
                  <a:srgbClr val="1A1A1A"/>
                </a:solidFill>
                <a:latin typeface="Consolas" pitchFamily="34" charset="0"/>
                <a:ea typeface="Consolas" pitchFamily="34" charset="-122"/>
                <a:cs typeface="Consolas" pitchFamily="34" charset="-120"/>
              </a:rPr>
              <a:t>G</a:t>
            </a:r>
            <a:endParaRPr lang="en-US" sz="1100" dirty="0"/>
          </a:p>
        </p:txBody>
      </p:sp>
      <p:sp>
        <p:nvSpPr>
          <p:cNvPr id="14" name="Shape 11"/>
          <p:cNvSpPr/>
          <p:nvPr/>
        </p:nvSpPr>
        <p:spPr>
          <a:xfrm>
            <a:off x="3265714" y="1554480"/>
            <a:ext cx="470263" cy="1222683"/>
          </a:xfrm>
          <a:prstGeom prst="rect">
            <a:avLst/>
          </a:prstGeom>
          <a:solidFill>
            <a:srgbClr val="7FA8D4"/>
          </a:solidFill>
          <a:ln w="12700">
            <a:solidFill>
              <a:srgbClr val="1A1A1A"/>
            </a:solidFill>
            <a:prstDash val="solid"/>
          </a:ln>
        </p:spPr>
      </p:sp>
      <p:sp>
        <p:nvSpPr>
          <p:cNvPr id="15" name="Text 12"/>
          <p:cNvSpPr/>
          <p:nvPr/>
        </p:nvSpPr>
        <p:spPr>
          <a:xfrm>
            <a:off x="3265714" y="2484555"/>
            <a:ext cx="470263" cy="274320"/>
          </a:xfrm>
          <a:prstGeom prst="rect">
            <a:avLst/>
          </a:prstGeom>
          <a:noFill/>
          <a:ln/>
        </p:spPr>
        <p:txBody>
          <a:bodyPr wrap="square" lIns="0" tIns="0" rIns="0" bIns="0" rtlCol="0" anchor="ctr"/>
          <a:lstStyle/>
          <a:p>
            <a:pPr algn="ctr" indent="0" marL="0">
              <a:buNone/>
            </a:pPr>
            <a:r>
              <a:rPr lang="en-US" sz="1100" dirty="0">
                <a:solidFill>
                  <a:srgbClr val="1A1A1A"/>
                </a:solidFill>
                <a:latin typeface="Consolas" pitchFamily="34" charset="0"/>
                <a:ea typeface="Consolas" pitchFamily="34" charset="-122"/>
                <a:cs typeface="Consolas" pitchFamily="34" charset="-120"/>
              </a:rPr>
              <a:t>A</a:t>
            </a:r>
            <a:endParaRPr lang="en-US" sz="1100" dirty="0"/>
          </a:p>
        </p:txBody>
      </p:sp>
      <p:sp>
        <p:nvSpPr>
          <p:cNvPr id="16" name="Shape 13"/>
          <p:cNvSpPr/>
          <p:nvPr/>
        </p:nvSpPr>
        <p:spPr>
          <a:xfrm>
            <a:off x="3735977" y="1554480"/>
            <a:ext cx="470263" cy="1222683"/>
          </a:xfrm>
          <a:prstGeom prst="rect">
            <a:avLst/>
          </a:prstGeom>
          <a:solidFill>
            <a:srgbClr val="7FA8D4"/>
          </a:solidFill>
          <a:ln w="12700">
            <a:solidFill>
              <a:srgbClr val="1A1A1A"/>
            </a:solidFill>
            <a:prstDash val="solid"/>
          </a:ln>
        </p:spPr>
      </p:sp>
      <p:sp>
        <p:nvSpPr>
          <p:cNvPr id="17" name="Text 14"/>
          <p:cNvSpPr/>
          <p:nvPr/>
        </p:nvSpPr>
        <p:spPr>
          <a:xfrm>
            <a:off x="3735977" y="2484555"/>
            <a:ext cx="470263" cy="274320"/>
          </a:xfrm>
          <a:prstGeom prst="rect">
            <a:avLst/>
          </a:prstGeom>
          <a:noFill/>
          <a:ln/>
        </p:spPr>
        <p:txBody>
          <a:bodyPr wrap="square" lIns="0" tIns="0" rIns="0" bIns="0" rtlCol="0" anchor="ctr"/>
          <a:lstStyle/>
          <a:p>
            <a:pPr algn="ctr" indent="0" marL="0">
              <a:buNone/>
            </a:pPr>
            <a:r>
              <a:rPr lang="en-US" sz="1100" dirty="0">
                <a:solidFill>
                  <a:srgbClr val="1A1A1A"/>
                </a:solidFill>
                <a:latin typeface="Consolas" pitchFamily="34" charset="0"/>
                <a:ea typeface="Consolas" pitchFamily="34" charset="-122"/>
                <a:cs typeface="Consolas" pitchFamily="34" charset="-120"/>
              </a:rPr>
              <a:t>B</a:t>
            </a:r>
            <a:endParaRPr lang="en-US" sz="1100" dirty="0"/>
          </a:p>
        </p:txBody>
      </p:sp>
      <p:sp>
        <p:nvSpPr>
          <p:cNvPr id="18" name="Shape 15"/>
          <p:cNvSpPr/>
          <p:nvPr/>
        </p:nvSpPr>
        <p:spPr>
          <a:xfrm>
            <a:off x="1243584" y="1554480"/>
            <a:ext cx="282158" cy="758064"/>
          </a:xfrm>
          <a:prstGeom prst="rect">
            <a:avLst/>
          </a:prstGeom>
          <a:solidFill>
            <a:srgbClr val="3E6FA0"/>
          </a:solidFill>
          <a:ln w="12700">
            <a:solidFill>
              <a:srgbClr val="000000"/>
            </a:solidFill>
            <a:prstDash val="solid"/>
          </a:ln>
        </p:spPr>
      </p:sp>
      <p:sp>
        <p:nvSpPr>
          <p:cNvPr id="19" name="Shape 16"/>
          <p:cNvSpPr/>
          <p:nvPr/>
        </p:nvSpPr>
        <p:spPr>
          <a:xfrm>
            <a:off x="1713847" y="1554480"/>
            <a:ext cx="282158" cy="758064"/>
          </a:xfrm>
          <a:prstGeom prst="rect">
            <a:avLst/>
          </a:prstGeom>
          <a:solidFill>
            <a:srgbClr val="3E6FA0"/>
          </a:solidFill>
          <a:ln w="12700">
            <a:solidFill>
              <a:srgbClr val="000000"/>
            </a:solidFill>
            <a:prstDash val="solid"/>
          </a:ln>
        </p:spPr>
      </p:sp>
      <p:sp>
        <p:nvSpPr>
          <p:cNvPr id="20" name="Shape 17"/>
          <p:cNvSpPr/>
          <p:nvPr/>
        </p:nvSpPr>
        <p:spPr>
          <a:xfrm>
            <a:off x="2654373" y="1554480"/>
            <a:ext cx="282158" cy="758064"/>
          </a:xfrm>
          <a:prstGeom prst="rect">
            <a:avLst/>
          </a:prstGeom>
          <a:solidFill>
            <a:srgbClr val="3E6FA0"/>
          </a:solidFill>
          <a:ln w="12700">
            <a:solidFill>
              <a:srgbClr val="000000"/>
            </a:solidFill>
            <a:prstDash val="solid"/>
          </a:ln>
        </p:spPr>
      </p:sp>
      <p:sp>
        <p:nvSpPr>
          <p:cNvPr id="21" name="Shape 18"/>
          <p:cNvSpPr/>
          <p:nvPr/>
        </p:nvSpPr>
        <p:spPr>
          <a:xfrm>
            <a:off x="3124635" y="1554480"/>
            <a:ext cx="282158" cy="758064"/>
          </a:xfrm>
          <a:prstGeom prst="rect">
            <a:avLst/>
          </a:prstGeom>
          <a:solidFill>
            <a:srgbClr val="3E6FA0"/>
          </a:solidFill>
          <a:ln w="12700">
            <a:solidFill>
              <a:srgbClr val="000000"/>
            </a:solidFill>
            <a:prstDash val="solid"/>
          </a:ln>
        </p:spPr>
      </p:sp>
      <p:sp>
        <p:nvSpPr>
          <p:cNvPr id="22" name="Shape 19"/>
          <p:cNvSpPr/>
          <p:nvPr/>
        </p:nvSpPr>
        <p:spPr>
          <a:xfrm>
            <a:off x="3594898" y="1554480"/>
            <a:ext cx="282158" cy="758064"/>
          </a:xfrm>
          <a:prstGeom prst="rect">
            <a:avLst/>
          </a:prstGeom>
          <a:solidFill>
            <a:srgbClr val="3E6FA0"/>
          </a:solidFill>
          <a:ln w="12700">
            <a:solidFill>
              <a:srgbClr val="000000"/>
            </a:solidFill>
            <a:prstDash val="solid"/>
          </a:ln>
        </p:spPr>
      </p:sp>
      <p:sp>
        <p:nvSpPr>
          <p:cNvPr id="23" name="Text 20"/>
          <p:cNvSpPr/>
          <p:nvPr/>
        </p:nvSpPr>
        <p:spPr>
          <a:xfrm>
            <a:off x="914400" y="3246120"/>
            <a:ext cx="3291840" cy="640080"/>
          </a:xfrm>
          <a:prstGeom prst="rect">
            <a:avLst/>
          </a:prstGeom>
          <a:noFill/>
          <a:ln/>
        </p:spPr>
        <p:txBody>
          <a:bodyPr wrap="square" lIns="0" tIns="0" rIns="0" bIns="0" rtlCol="0" anchor="ctr"/>
          <a:lstStyle/>
          <a:p>
            <a:pPr algn="ctr" indent="0" marL="0">
              <a:buNone/>
            </a:pPr>
            <a:r>
              <a:rPr lang="en-US" sz="1300" dirty="0">
                <a:solidFill>
                  <a:srgbClr val="E5413A"/>
                </a:solidFill>
                <a:latin typeface="Consolas" pitchFamily="34" charset="0"/>
                <a:ea typeface="Consolas" pitchFamily="34" charset="-122"/>
                <a:cs typeface="Consolas" pitchFamily="34" charset="-120"/>
              </a:rPr>
              <a:t>chromatic: all 12</a:t>
            </a:r>
            <a:endParaRPr lang="en-US" sz="1300" dirty="0"/>
          </a:p>
          <a:p>
            <a:pPr algn="ctr" indent="0" marL="0">
              <a:buNone/>
            </a:pPr>
            <a:r>
              <a:rPr lang="en-US" sz="1300" dirty="0">
                <a:solidFill>
                  <a:srgbClr val="E5413A"/>
                </a:solidFill>
                <a:latin typeface="Consolas" pitchFamily="34" charset="0"/>
                <a:ea typeface="Consolas" pitchFamily="34" charset="-122"/>
                <a:cs typeface="Consolas" pitchFamily="34" charset="-120"/>
              </a:rPr>
              <a:t>→ sounds random</a:t>
            </a:r>
            <a:endParaRPr lang="en-US" sz="1300" dirty="0"/>
          </a:p>
        </p:txBody>
      </p:sp>
      <p:sp>
        <p:nvSpPr>
          <p:cNvPr id="24" name="Shape 21"/>
          <p:cNvSpPr/>
          <p:nvPr/>
        </p:nvSpPr>
        <p:spPr>
          <a:xfrm>
            <a:off x="4572000" y="1737360"/>
            <a:ext cx="0" cy="1280160"/>
          </a:xfrm>
          <a:prstGeom prst="line">
            <a:avLst/>
          </a:prstGeom>
          <a:noFill/>
          <a:ln w="12700">
            <a:solidFill>
              <a:srgbClr val="8A8A8A"/>
            </a:solidFill>
            <a:prstDash val="solid"/>
          </a:ln>
        </p:spPr>
      </p:sp>
      <p:sp>
        <p:nvSpPr>
          <p:cNvPr id="25" name="Shape 22"/>
          <p:cNvSpPr/>
          <p:nvPr/>
        </p:nvSpPr>
        <p:spPr>
          <a:xfrm>
            <a:off x="4937760" y="1554480"/>
            <a:ext cx="470263" cy="1222683"/>
          </a:xfrm>
          <a:prstGeom prst="rect">
            <a:avLst/>
          </a:prstGeom>
          <a:solidFill>
            <a:srgbClr val="7FA8D4"/>
          </a:solidFill>
          <a:ln w="12700">
            <a:solidFill>
              <a:srgbClr val="1A1A1A"/>
            </a:solidFill>
            <a:prstDash val="solid"/>
          </a:ln>
        </p:spPr>
      </p:sp>
      <p:sp>
        <p:nvSpPr>
          <p:cNvPr id="26" name="Text 23"/>
          <p:cNvSpPr/>
          <p:nvPr/>
        </p:nvSpPr>
        <p:spPr>
          <a:xfrm>
            <a:off x="4937760" y="2484555"/>
            <a:ext cx="470263" cy="274320"/>
          </a:xfrm>
          <a:prstGeom prst="rect">
            <a:avLst/>
          </a:prstGeom>
          <a:noFill/>
          <a:ln/>
        </p:spPr>
        <p:txBody>
          <a:bodyPr wrap="square" lIns="0" tIns="0" rIns="0" bIns="0" rtlCol="0" anchor="ctr"/>
          <a:lstStyle/>
          <a:p>
            <a:pPr algn="ctr" indent="0" marL="0">
              <a:buNone/>
            </a:pPr>
            <a:r>
              <a:rPr lang="en-US" sz="1100" dirty="0">
                <a:solidFill>
                  <a:srgbClr val="1A1A1A"/>
                </a:solidFill>
                <a:latin typeface="Consolas" pitchFamily="34" charset="0"/>
                <a:ea typeface="Consolas" pitchFamily="34" charset="-122"/>
                <a:cs typeface="Consolas" pitchFamily="34" charset="-120"/>
              </a:rPr>
              <a:t>C</a:t>
            </a:r>
            <a:endParaRPr lang="en-US" sz="1100" dirty="0"/>
          </a:p>
        </p:txBody>
      </p:sp>
      <p:sp>
        <p:nvSpPr>
          <p:cNvPr id="27" name="Shape 24"/>
          <p:cNvSpPr/>
          <p:nvPr/>
        </p:nvSpPr>
        <p:spPr>
          <a:xfrm>
            <a:off x="5408023" y="1554480"/>
            <a:ext cx="470263" cy="1222683"/>
          </a:xfrm>
          <a:prstGeom prst="rect">
            <a:avLst/>
          </a:prstGeom>
          <a:solidFill>
            <a:srgbClr val="7FA8D4"/>
          </a:solidFill>
          <a:ln w="12700">
            <a:solidFill>
              <a:srgbClr val="1A1A1A"/>
            </a:solidFill>
            <a:prstDash val="solid"/>
          </a:ln>
        </p:spPr>
      </p:sp>
      <p:sp>
        <p:nvSpPr>
          <p:cNvPr id="28" name="Text 25"/>
          <p:cNvSpPr/>
          <p:nvPr/>
        </p:nvSpPr>
        <p:spPr>
          <a:xfrm>
            <a:off x="5408023" y="2484555"/>
            <a:ext cx="470263" cy="274320"/>
          </a:xfrm>
          <a:prstGeom prst="rect">
            <a:avLst/>
          </a:prstGeom>
          <a:noFill/>
          <a:ln/>
        </p:spPr>
        <p:txBody>
          <a:bodyPr wrap="square" lIns="0" tIns="0" rIns="0" bIns="0" rtlCol="0" anchor="ctr"/>
          <a:lstStyle/>
          <a:p>
            <a:pPr algn="ctr" indent="0" marL="0">
              <a:buNone/>
            </a:pPr>
            <a:r>
              <a:rPr lang="en-US" sz="1100" dirty="0">
                <a:solidFill>
                  <a:srgbClr val="1A1A1A"/>
                </a:solidFill>
                <a:latin typeface="Consolas" pitchFamily="34" charset="0"/>
                <a:ea typeface="Consolas" pitchFamily="34" charset="-122"/>
                <a:cs typeface="Consolas" pitchFamily="34" charset="-120"/>
              </a:rPr>
              <a:t>D</a:t>
            </a:r>
            <a:endParaRPr lang="en-US" sz="1100" dirty="0"/>
          </a:p>
        </p:txBody>
      </p:sp>
      <p:sp>
        <p:nvSpPr>
          <p:cNvPr id="29" name="Shape 26"/>
          <p:cNvSpPr/>
          <p:nvPr/>
        </p:nvSpPr>
        <p:spPr>
          <a:xfrm>
            <a:off x="5878286" y="1554480"/>
            <a:ext cx="470263" cy="1222683"/>
          </a:xfrm>
          <a:prstGeom prst="rect">
            <a:avLst/>
          </a:prstGeom>
          <a:solidFill>
            <a:srgbClr val="7FA8D4"/>
          </a:solidFill>
          <a:ln w="12700">
            <a:solidFill>
              <a:srgbClr val="1A1A1A"/>
            </a:solidFill>
            <a:prstDash val="solid"/>
          </a:ln>
        </p:spPr>
      </p:sp>
      <p:sp>
        <p:nvSpPr>
          <p:cNvPr id="30" name="Text 27"/>
          <p:cNvSpPr/>
          <p:nvPr/>
        </p:nvSpPr>
        <p:spPr>
          <a:xfrm>
            <a:off x="5878286" y="2484555"/>
            <a:ext cx="470263" cy="274320"/>
          </a:xfrm>
          <a:prstGeom prst="rect">
            <a:avLst/>
          </a:prstGeom>
          <a:noFill/>
          <a:ln/>
        </p:spPr>
        <p:txBody>
          <a:bodyPr wrap="square" lIns="0" tIns="0" rIns="0" bIns="0" rtlCol="0" anchor="ctr"/>
          <a:lstStyle/>
          <a:p>
            <a:pPr algn="ctr" indent="0" marL="0">
              <a:buNone/>
            </a:pPr>
            <a:r>
              <a:rPr lang="en-US" sz="1100" dirty="0">
                <a:solidFill>
                  <a:srgbClr val="1A1A1A"/>
                </a:solidFill>
                <a:latin typeface="Consolas" pitchFamily="34" charset="0"/>
                <a:ea typeface="Consolas" pitchFamily="34" charset="-122"/>
                <a:cs typeface="Consolas" pitchFamily="34" charset="-120"/>
              </a:rPr>
              <a:t>E</a:t>
            </a:r>
            <a:endParaRPr lang="en-US" sz="1100" dirty="0"/>
          </a:p>
        </p:txBody>
      </p:sp>
      <p:sp>
        <p:nvSpPr>
          <p:cNvPr id="31" name="Shape 28"/>
          <p:cNvSpPr/>
          <p:nvPr/>
        </p:nvSpPr>
        <p:spPr>
          <a:xfrm>
            <a:off x="6348549" y="1554480"/>
            <a:ext cx="470263" cy="1222683"/>
          </a:xfrm>
          <a:prstGeom prst="rect">
            <a:avLst/>
          </a:prstGeom>
          <a:solidFill>
            <a:srgbClr val="7FA8D4"/>
          </a:solidFill>
          <a:ln w="12700">
            <a:solidFill>
              <a:srgbClr val="1A1A1A"/>
            </a:solidFill>
            <a:prstDash val="solid"/>
          </a:ln>
        </p:spPr>
      </p:sp>
      <p:sp>
        <p:nvSpPr>
          <p:cNvPr id="32" name="Text 29"/>
          <p:cNvSpPr/>
          <p:nvPr/>
        </p:nvSpPr>
        <p:spPr>
          <a:xfrm>
            <a:off x="6348549" y="2484555"/>
            <a:ext cx="470263" cy="274320"/>
          </a:xfrm>
          <a:prstGeom prst="rect">
            <a:avLst/>
          </a:prstGeom>
          <a:noFill/>
          <a:ln/>
        </p:spPr>
        <p:txBody>
          <a:bodyPr wrap="square" lIns="0" tIns="0" rIns="0" bIns="0" rtlCol="0" anchor="ctr"/>
          <a:lstStyle/>
          <a:p>
            <a:pPr algn="ctr" indent="0" marL="0">
              <a:buNone/>
            </a:pPr>
            <a:r>
              <a:rPr lang="en-US" sz="1100" dirty="0">
                <a:solidFill>
                  <a:srgbClr val="1A1A1A"/>
                </a:solidFill>
                <a:latin typeface="Consolas" pitchFamily="34" charset="0"/>
                <a:ea typeface="Consolas" pitchFamily="34" charset="-122"/>
                <a:cs typeface="Consolas" pitchFamily="34" charset="-120"/>
              </a:rPr>
              <a:t>F</a:t>
            </a:r>
            <a:endParaRPr lang="en-US" sz="1100" dirty="0"/>
          </a:p>
        </p:txBody>
      </p:sp>
      <p:sp>
        <p:nvSpPr>
          <p:cNvPr id="33" name="Shape 30"/>
          <p:cNvSpPr/>
          <p:nvPr/>
        </p:nvSpPr>
        <p:spPr>
          <a:xfrm>
            <a:off x="6818811" y="1554480"/>
            <a:ext cx="470263" cy="1222683"/>
          </a:xfrm>
          <a:prstGeom prst="rect">
            <a:avLst/>
          </a:prstGeom>
          <a:solidFill>
            <a:srgbClr val="7FA8D4"/>
          </a:solidFill>
          <a:ln w="12700">
            <a:solidFill>
              <a:srgbClr val="1A1A1A"/>
            </a:solidFill>
            <a:prstDash val="solid"/>
          </a:ln>
        </p:spPr>
      </p:sp>
      <p:sp>
        <p:nvSpPr>
          <p:cNvPr id="34" name="Text 31"/>
          <p:cNvSpPr/>
          <p:nvPr/>
        </p:nvSpPr>
        <p:spPr>
          <a:xfrm>
            <a:off x="6818811" y="2484555"/>
            <a:ext cx="470263" cy="274320"/>
          </a:xfrm>
          <a:prstGeom prst="rect">
            <a:avLst/>
          </a:prstGeom>
          <a:noFill/>
          <a:ln/>
        </p:spPr>
        <p:txBody>
          <a:bodyPr wrap="square" lIns="0" tIns="0" rIns="0" bIns="0" rtlCol="0" anchor="ctr"/>
          <a:lstStyle/>
          <a:p>
            <a:pPr algn="ctr" indent="0" marL="0">
              <a:buNone/>
            </a:pPr>
            <a:r>
              <a:rPr lang="en-US" sz="1100" dirty="0">
                <a:solidFill>
                  <a:srgbClr val="1A1A1A"/>
                </a:solidFill>
                <a:latin typeface="Consolas" pitchFamily="34" charset="0"/>
                <a:ea typeface="Consolas" pitchFamily="34" charset="-122"/>
                <a:cs typeface="Consolas" pitchFamily="34" charset="-120"/>
              </a:rPr>
              <a:t>G</a:t>
            </a:r>
            <a:endParaRPr lang="en-US" sz="1100" dirty="0"/>
          </a:p>
        </p:txBody>
      </p:sp>
      <p:sp>
        <p:nvSpPr>
          <p:cNvPr id="35" name="Shape 32"/>
          <p:cNvSpPr/>
          <p:nvPr/>
        </p:nvSpPr>
        <p:spPr>
          <a:xfrm>
            <a:off x="7289074" y="1554480"/>
            <a:ext cx="470263" cy="1222683"/>
          </a:xfrm>
          <a:prstGeom prst="rect">
            <a:avLst/>
          </a:prstGeom>
          <a:solidFill>
            <a:srgbClr val="EEC643"/>
          </a:solidFill>
          <a:ln w="12700">
            <a:solidFill>
              <a:srgbClr val="1A1A1A"/>
            </a:solidFill>
            <a:prstDash val="solid"/>
          </a:ln>
        </p:spPr>
      </p:sp>
      <p:sp>
        <p:nvSpPr>
          <p:cNvPr id="36" name="Text 33"/>
          <p:cNvSpPr/>
          <p:nvPr/>
        </p:nvSpPr>
        <p:spPr>
          <a:xfrm>
            <a:off x="7289074" y="2484555"/>
            <a:ext cx="470263" cy="274320"/>
          </a:xfrm>
          <a:prstGeom prst="rect">
            <a:avLst/>
          </a:prstGeom>
          <a:noFill/>
          <a:ln/>
        </p:spPr>
        <p:txBody>
          <a:bodyPr wrap="square" lIns="0" tIns="0" rIns="0" bIns="0" rtlCol="0" anchor="ctr"/>
          <a:lstStyle/>
          <a:p>
            <a:pPr algn="ctr" indent="0" marL="0">
              <a:buNone/>
            </a:pPr>
            <a:r>
              <a:rPr lang="en-US" sz="1100" dirty="0">
                <a:solidFill>
                  <a:srgbClr val="1A1A1A"/>
                </a:solidFill>
                <a:latin typeface="Consolas" pitchFamily="34" charset="0"/>
                <a:ea typeface="Consolas" pitchFamily="34" charset="-122"/>
                <a:cs typeface="Consolas" pitchFamily="34" charset="-120"/>
              </a:rPr>
              <a:t>A</a:t>
            </a:r>
            <a:endParaRPr lang="en-US" sz="1100" dirty="0"/>
          </a:p>
        </p:txBody>
      </p:sp>
      <p:sp>
        <p:nvSpPr>
          <p:cNvPr id="37" name="Shape 34"/>
          <p:cNvSpPr/>
          <p:nvPr/>
        </p:nvSpPr>
        <p:spPr>
          <a:xfrm>
            <a:off x="7759337" y="1554480"/>
            <a:ext cx="470263" cy="1222683"/>
          </a:xfrm>
          <a:prstGeom prst="rect">
            <a:avLst/>
          </a:prstGeom>
          <a:solidFill>
            <a:srgbClr val="7FA8D4"/>
          </a:solidFill>
          <a:ln w="12700">
            <a:solidFill>
              <a:srgbClr val="1A1A1A"/>
            </a:solidFill>
            <a:prstDash val="solid"/>
          </a:ln>
        </p:spPr>
      </p:sp>
      <p:sp>
        <p:nvSpPr>
          <p:cNvPr id="38" name="Text 35"/>
          <p:cNvSpPr/>
          <p:nvPr/>
        </p:nvSpPr>
        <p:spPr>
          <a:xfrm>
            <a:off x="7759337" y="2484555"/>
            <a:ext cx="470263" cy="274320"/>
          </a:xfrm>
          <a:prstGeom prst="rect">
            <a:avLst/>
          </a:prstGeom>
          <a:noFill/>
          <a:ln/>
        </p:spPr>
        <p:txBody>
          <a:bodyPr wrap="square" lIns="0" tIns="0" rIns="0" bIns="0" rtlCol="0" anchor="ctr"/>
          <a:lstStyle/>
          <a:p>
            <a:pPr algn="ctr" indent="0" marL="0">
              <a:buNone/>
            </a:pPr>
            <a:r>
              <a:rPr lang="en-US" sz="1100" dirty="0">
                <a:solidFill>
                  <a:srgbClr val="1A1A1A"/>
                </a:solidFill>
                <a:latin typeface="Consolas" pitchFamily="34" charset="0"/>
                <a:ea typeface="Consolas" pitchFamily="34" charset="-122"/>
                <a:cs typeface="Consolas" pitchFamily="34" charset="-120"/>
              </a:rPr>
              <a:t>B</a:t>
            </a:r>
            <a:endParaRPr lang="en-US" sz="1100" dirty="0"/>
          </a:p>
        </p:txBody>
      </p:sp>
      <p:sp>
        <p:nvSpPr>
          <p:cNvPr id="39" name="Shape 36"/>
          <p:cNvSpPr/>
          <p:nvPr/>
        </p:nvSpPr>
        <p:spPr>
          <a:xfrm>
            <a:off x="5266944" y="1554480"/>
            <a:ext cx="282158" cy="758064"/>
          </a:xfrm>
          <a:prstGeom prst="rect">
            <a:avLst/>
          </a:prstGeom>
          <a:solidFill>
            <a:srgbClr val="111111"/>
          </a:solidFill>
          <a:ln w="12700">
            <a:solidFill>
              <a:srgbClr val="000000"/>
            </a:solidFill>
            <a:prstDash val="solid"/>
          </a:ln>
        </p:spPr>
      </p:sp>
      <p:sp>
        <p:nvSpPr>
          <p:cNvPr id="40" name="Shape 37"/>
          <p:cNvSpPr/>
          <p:nvPr/>
        </p:nvSpPr>
        <p:spPr>
          <a:xfrm>
            <a:off x="5737207" y="1554480"/>
            <a:ext cx="282158" cy="758064"/>
          </a:xfrm>
          <a:prstGeom prst="rect">
            <a:avLst/>
          </a:prstGeom>
          <a:solidFill>
            <a:srgbClr val="111111"/>
          </a:solidFill>
          <a:ln w="12700">
            <a:solidFill>
              <a:srgbClr val="000000"/>
            </a:solidFill>
            <a:prstDash val="solid"/>
          </a:ln>
        </p:spPr>
      </p:sp>
      <p:sp>
        <p:nvSpPr>
          <p:cNvPr id="41" name="Shape 38"/>
          <p:cNvSpPr/>
          <p:nvPr/>
        </p:nvSpPr>
        <p:spPr>
          <a:xfrm>
            <a:off x="6677733" y="1554480"/>
            <a:ext cx="282158" cy="758064"/>
          </a:xfrm>
          <a:prstGeom prst="rect">
            <a:avLst/>
          </a:prstGeom>
          <a:solidFill>
            <a:srgbClr val="111111"/>
          </a:solidFill>
          <a:ln w="12700">
            <a:solidFill>
              <a:srgbClr val="000000"/>
            </a:solidFill>
            <a:prstDash val="solid"/>
          </a:ln>
        </p:spPr>
      </p:sp>
      <p:sp>
        <p:nvSpPr>
          <p:cNvPr id="42" name="Shape 39"/>
          <p:cNvSpPr/>
          <p:nvPr/>
        </p:nvSpPr>
        <p:spPr>
          <a:xfrm>
            <a:off x="7147995" y="1554480"/>
            <a:ext cx="282158" cy="758064"/>
          </a:xfrm>
          <a:prstGeom prst="rect">
            <a:avLst/>
          </a:prstGeom>
          <a:solidFill>
            <a:srgbClr val="111111"/>
          </a:solidFill>
          <a:ln w="12700">
            <a:solidFill>
              <a:srgbClr val="000000"/>
            </a:solidFill>
            <a:prstDash val="solid"/>
          </a:ln>
        </p:spPr>
      </p:sp>
      <p:sp>
        <p:nvSpPr>
          <p:cNvPr id="43" name="Shape 40"/>
          <p:cNvSpPr/>
          <p:nvPr/>
        </p:nvSpPr>
        <p:spPr>
          <a:xfrm>
            <a:off x="7618258" y="1554480"/>
            <a:ext cx="282158" cy="758064"/>
          </a:xfrm>
          <a:prstGeom prst="rect">
            <a:avLst/>
          </a:prstGeom>
          <a:solidFill>
            <a:srgbClr val="111111"/>
          </a:solidFill>
          <a:ln w="12700">
            <a:solidFill>
              <a:srgbClr val="000000"/>
            </a:solidFill>
            <a:prstDash val="solid"/>
          </a:ln>
        </p:spPr>
      </p:sp>
      <p:sp>
        <p:nvSpPr>
          <p:cNvPr id="44" name="Text 41"/>
          <p:cNvSpPr/>
          <p:nvPr/>
        </p:nvSpPr>
        <p:spPr>
          <a:xfrm>
            <a:off x="4937760" y="3246120"/>
            <a:ext cx="3291840" cy="640080"/>
          </a:xfrm>
          <a:prstGeom prst="rect">
            <a:avLst/>
          </a:prstGeom>
          <a:noFill/>
          <a:ln/>
        </p:spPr>
        <p:txBody>
          <a:bodyPr wrap="square" lIns="0" tIns="0" rIns="0" bIns="0" rtlCol="0" anchor="ctr"/>
          <a:lstStyle/>
          <a:p>
            <a:pPr algn="ctr" indent="0" marL="0">
              <a:buNone/>
            </a:pPr>
            <a:r>
              <a:rPr lang="en-US" sz="1300" dirty="0">
                <a:solidFill>
                  <a:srgbClr val="8FCB9B"/>
                </a:solidFill>
                <a:latin typeface="Consolas" pitchFamily="34" charset="0"/>
                <a:ea typeface="Consolas" pitchFamily="34" charset="-122"/>
                <a:cs typeface="Consolas" pitchFamily="34" charset="-120"/>
              </a:rPr>
              <a:t>a scale: pick a few</a:t>
            </a:r>
            <a:endParaRPr lang="en-US" sz="1300" dirty="0"/>
          </a:p>
          <a:p>
            <a:pPr algn="ctr" indent="0" marL="0">
              <a:buNone/>
            </a:pPr>
            <a:r>
              <a:rPr lang="en-US" sz="1300" dirty="0">
                <a:solidFill>
                  <a:srgbClr val="8FCB9B"/>
                </a:solidFill>
                <a:latin typeface="Consolas" pitchFamily="34" charset="0"/>
                <a:ea typeface="Consolas" pitchFamily="34" charset="-122"/>
                <a:cs typeface="Consolas" pitchFamily="34" charset="-120"/>
              </a:rPr>
              <a:t>→ sounds intentional</a:t>
            </a:r>
            <a:endParaRPr lang="en-US" sz="1300" dirty="0"/>
          </a:p>
        </p:txBody>
      </p:sp>
      <p:sp>
        <p:nvSpPr>
          <p:cNvPr id="45" name="Text 42"/>
          <p:cNvSpPr/>
          <p:nvPr/>
        </p:nvSpPr>
        <p:spPr>
          <a:xfrm>
            <a:off x="457200" y="4343400"/>
            <a:ext cx="8229600" cy="365760"/>
          </a:xfrm>
          <a:prstGeom prst="rect">
            <a:avLst/>
          </a:prstGeom>
          <a:noFill/>
          <a:ln/>
        </p:spPr>
        <p:txBody>
          <a:bodyPr wrap="square" lIns="0" tIns="0" rIns="0" bIns="0" rtlCol="0" anchor="ctr"/>
          <a:lstStyle/>
          <a:p>
            <a:pPr algn="ctr" indent="0" marL="0">
              <a:buNone/>
            </a:pPr>
            <a:r>
              <a:rPr lang="en-US" sz="1350" dirty="0">
                <a:solidFill>
                  <a:srgbClr val="EEC643"/>
                </a:solidFill>
                <a:latin typeface="Consolas" pitchFamily="34" charset="0"/>
                <a:ea typeface="Consolas" pitchFamily="34" charset="-122"/>
                <a:cs typeface="Consolas" pitchFamily="34" charset="-120"/>
              </a:rPr>
              <a:t>▶ DEMO: same notes, chromatic vs. a scale</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457200" y="457200"/>
            <a:ext cx="8229600" cy="640080"/>
          </a:xfrm>
          <a:prstGeom prst="rect">
            <a:avLst/>
          </a:prstGeom>
          <a:noFill/>
          <a:ln/>
        </p:spPr>
        <p:txBody>
          <a:bodyPr wrap="square" lIns="0" tIns="0" rIns="0" bIns="0" rtlCol="0" anchor="ctr"/>
          <a:lstStyle/>
          <a:p>
            <a:pPr algn="ctr" indent="0" marL="0">
              <a:buNone/>
            </a:pPr>
            <a:r>
              <a:rPr lang="en-US" sz="3000" b="1" dirty="0">
                <a:solidFill>
                  <a:srgbClr val="ECECEC"/>
                </a:solidFill>
                <a:latin typeface="Consolas" pitchFamily="34" charset="0"/>
                <a:ea typeface="Consolas" pitchFamily="34" charset="-122"/>
                <a:cs typeface="Consolas" pitchFamily="34" charset="-120"/>
              </a:rPr>
              <a:t>key  =  tonic  +  scale</a:t>
            </a:r>
            <a:endParaRPr lang="en-US" sz="3000" dirty="0"/>
          </a:p>
        </p:txBody>
      </p:sp>
      <p:sp>
        <p:nvSpPr>
          <p:cNvPr id="4" name="Shape 1"/>
          <p:cNvSpPr/>
          <p:nvPr/>
        </p:nvSpPr>
        <p:spPr>
          <a:xfrm>
            <a:off x="1828800" y="1554480"/>
            <a:ext cx="783771" cy="2037806"/>
          </a:xfrm>
          <a:prstGeom prst="rect">
            <a:avLst/>
          </a:prstGeom>
          <a:solidFill>
            <a:srgbClr val="EEC643"/>
          </a:solidFill>
          <a:ln w="12700">
            <a:solidFill>
              <a:srgbClr val="1A1A1A"/>
            </a:solidFill>
            <a:prstDash val="solid"/>
          </a:ln>
        </p:spPr>
      </p:sp>
      <p:sp>
        <p:nvSpPr>
          <p:cNvPr id="5" name="Text 2"/>
          <p:cNvSpPr/>
          <p:nvPr/>
        </p:nvSpPr>
        <p:spPr>
          <a:xfrm>
            <a:off x="1828800" y="3299678"/>
            <a:ext cx="783771" cy="274320"/>
          </a:xfrm>
          <a:prstGeom prst="rect">
            <a:avLst/>
          </a:prstGeom>
          <a:noFill/>
          <a:ln/>
        </p:spPr>
        <p:txBody>
          <a:bodyPr wrap="square" lIns="0" tIns="0" rIns="0" bIns="0" rtlCol="0" anchor="ctr"/>
          <a:lstStyle/>
          <a:p>
            <a:pPr algn="ctr" indent="0" marL="0">
              <a:buNone/>
            </a:pPr>
            <a:r>
              <a:rPr lang="en-US" sz="1100" dirty="0">
                <a:solidFill>
                  <a:srgbClr val="1A1A1A"/>
                </a:solidFill>
                <a:latin typeface="Consolas" pitchFamily="34" charset="0"/>
                <a:ea typeface="Consolas" pitchFamily="34" charset="-122"/>
                <a:cs typeface="Consolas" pitchFamily="34" charset="-120"/>
              </a:rPr>
              <a:t>C</a:t>
            </a:r>
            <a:endParaRPr lang="en-US" sz="1100" dirty="0"/>
          </a:p>
        </p:txBody>
      </p:sp>
      <p:sp>
        <p:nvSpPr>
          <p:cNvPr id="6" name="Shape 3"/>
          <p:cNvSpPr/>
          <p:nvPr/>
        </p:nvSpPr>
        <p:spPr>
          <a:xfrm>
            <a:off x="2612571" y="1554480"/>
            <a:ext cx="783771" cy="2037806"/>
          </a:xfrm>
          <a:prstGeom prst="rect">
            <a:avLst/>
          </a:prstGeom>
          <a:solidFill>
            <a:srgbClr val="7FA8D4"/>
          </a:solidFill>
          <a:ln w="12700">
            <a:solidFill>
              <a:srgbClr val="1A1A1A"/>
            </a:solidFill>
            <a:prstDash val="solid"/>
          </a:ln>
        </p:spPr>
      </p:sp>
      <p:sp>
        <p:nvSpPr>
          <p:cNvPr id="7" name="Text 4"/>
          <p:cNvSpPr/>
          <p:nvPr/>
        </p:nvSpPr>
        <p:spPr>
          <a:xfrm>
            <a:off x="2612571" y="3299678"/>
            <a:ext cx="783771" cy="274320"/>
          </a:xfrm>
          <a:prstGeom prst="rect">
            <a:avLst/>
          </a:prstGeom>
          <a:noFill/>
          <a:ln/>
        </p:spPr>
        <p:txBody>
          <a:bodyPr wrap="square" lIns="0" tIns="0" rIns="0" bIns="0" rtlCol="0" anchor="ctr"/>
          <a:lstStyle/>
          <a:p>
            <a:pPr algn="ctr" indent="0" marL="0">
              <a:buNone/>
            </a:pPr>
            <a:r>
              <a:rPr lang="en-US" sz="1100" dirty="0">
                <a:solidFill>
                  <a:srgbClr val="1A1A1A"/>
                </a:solidFill>
                <a:latin typeface="Consolas" pitchFamily="34" charset="0"/>
                <a:ea typeface="Consolas" pitchFamily="34" charset="-122"/>
                <a:cs typeface="Consolas" pitchFamily="34" charset="-120"/>
              </a:rPr>
              <a:t>D</a:t>
            </a:r>
            <a:endParaRPr lang="en-US" sz="1100" dirty="0"/>
          </a:p>
        </p:txBody>
      </p:sp>
      <p:sp>
        <p:nvSpPr>
          <p:cNvPr id="8" name="Shape 5"/>
          <p:cNvSpPr/>
          <p:nvPr/>
        </p:nvSpPr>
        <p:spPr>
          <a:xfrm>
            <a:off x="3396343" y="1554480"/>
            <a:ext cx="783771" cy="2037806"/>
          </a:xfrm>
          <a:prstGeom prst="rect">
            <a:avLst/>
          </a:prstGeom>
          <a:solidFill>
            <a:srgbClr val="7FA8D4"/>
          </a:solidFill>
          <a:ln w="12700">
            <a:solidFill>
              <a:srgbClr val="1A1A1A"/>
            </a:solidFill>
            <a:prstDash val="solid"/>
          </a:ln>
        </p:spPr>
      </p:sp>
      <p:sp>
        <p:nvSpPr>
          <p:cNvPr id="9" name="Text 6"/>
          <p:cNvSpPr/>
          <p:nvPr/>
        </p:nvSpPr>
        <p:spPr>
          <a:xfrm>
            <a:off x="3396343" y="3299678"/>
            <a:ext cx="783771" cy="274320"/>
          </a:xfrm>
          <a:prstGeom prst="rect">
            <a:avLst/>
          </a:prstGeom>
          <a:noFill/>
          <a:ln/>
        </p:spPr>
        <p:txBody>
          <a:bodyPr wrap="square" lIns="0" tIns="0" rIns="0" bIns="0" rtlCol="0" anchor="ctr"/>
          <a:lstStyle/>
          <a:p>
            <a:pPr algn="ctr" indent="0" marL="0">
              <a:buNone/>
            </a:pPr>
            <a:r>
              <a:rPr lang="en-US" sz="1100" dirty="0">
                <a:solidFill>
                  <a:srgbClr val="1A1A1A"/>
                </a:solidFill>
                <a:latin typeface="Consolas" pitchFamily="34" charset="0"/>
                <a:ea typeface="Consolas" pitchFamily="34" charset="-122"/>
                <a:cs typeface="Consolas" pitchFamily="34" charset="-120"/>
              </a:rPr>
              <a:t>E</a:t>
            </a:r>
            <a:endParaRPr lang="en-US" sz="1100" dirty="0"/>
          </a:p>
        </p:txBody>
      </p:sp>
      <p:sp>
        <p:nvSpPr>
          <p:cNvPr id="10" name="Shape 7"/>
          <p:cNvSpPr/>
          <p:nvPr/>
        </p:nvSpPr>
        <p:spPr>
          <a:xfrm>
            <a:off x="4180114" y="1554480"/>
            <a:ext cx="783771" cy="2037806"/>
          </a:xfrm>
          <a:prstGeom prst="rect">
            <a:avLst/>
          </a:prstGeom>
          <a:solidFill>
            <a:srgbClr val="7FA8D4"/>
          </a:solidFill>
          <a:ln w="12700">
            <a:solidFill>
              <a:srgbClr val="1A1A1A"/>
            </a:solidFill>
            <a:prstDash val="solid"/>
          </a:ln>
        </p:spPr>
      </p:sp>
      <p:sp>
        <p:nvSpPr>
          <p:cNvPr id="11" name="Text 8"/>
          <p:cNvSpPr/>
          <p:nvPr/>
        </p:nvSpPr>
        <p:spPr>
          <a:xfrm>
            <a:off x="4180114" y="3299678"/>
            <a:ext cx="783771" cy="274320"/>
          </a:xfrm>
          <a:prstGeom prst="rect">
            <a:avLst/>
          </a:prstGeom>
          <a:noFill/>
          <a:ln/>
        </p:spPr>
        <p:txBody>
          <a:bodyPr wrap="square" lIns="0" tIns="0" rIns="0" bIns="0" rtlCol="0" anchor="ctr"/>
          <a:lstStyle/>
          <a:p>
            <a:pPr algn="ctr" indent="0" marL="0">
              <a:buNone/>
            </a:pPr>
            <a:r>
              <a:rPr lang="en-US" sz="1100" dirty="0">
                <a:solidFill>
                  <a:srgbClr val="1A1A1A"/>
                </a:solidFill>
                <a:latin typeface="Consolas" pitchFamily="34" charset="0"/>
                <a:ea typeface="Consolas" pitchFamily="34" charset="-122"/>
                <a:cs typeface="Consolas" pitchFamily="34" charset="-120"/>
              </a:rPr>
              <a:t>F</a:t>
            </a:r>
            <a:endParaRPr lang="en-US" sz="1100" dirty="0"/>
          </a:p>
        </p:txBody>
      </p:sp>
      <p:sp>
        <p:nvSpPr>
          <p:cNvPr id="12" name="Shape 9"/>
          <p:cNvSpPr/>
          <p:nvPr/>
        </p:nvSpPr>
        <p:spPr>
          <a:xfrm>
            <a:off x="4963886" y="1554480"/>
            <a:ext cx="783771" cy="2037806"/>
          </a:xfrm>
          <a:prstGeom prst="rect">
            <a:avLst/>
          </a:prstGeom>
          <a:solidFill>
            <a:srgbClr val="7FA8D4"/>
          </a:solidFill>
          <a:ln w="12700">
            <a:solidFill>
              <a:srgbClr val="1A1A1A"/>
            </a:solidFill>
            <a:prstDash val="solid"/>
          </a:ln>
        </p:spPr>
      </p:sp>
      <p:sp>
        <p:nvSpPr>
          <p:cNvPr id="13" name="Text 10"/>
          <p:cNvSpPr/>
          <p:nvPr/>
        </p:nvSpPr>
        <p:spPr>
          <a:xfrm>
            <a:off x="4963886" y="3299678"/>
            <a:ext cx="783771" cy="274320"/>
          </a:xfrm>
          <a:prstGeom prst="rect">
            <a:avLst/>
          </a:prstGeom>
          <a:noFill/>
          <a:ln/>
        </p:spPr>
        <p:txBody>
          <a:bodyPr wrap="square" lIns="0" tIns="0" rIns="0" bIns="0" rtlCol="0" anchor="ctr"/>
          <a:lstStyle/>
          <a:p>
            <a:pPr algn="ctr" indent="0" marL="0">
              <a:buNone/>
            </a:pPr>
            <a:r>
              <a:rPr lang="en-US" sz="1100" dirty="0">
                <a:solidFill>
                  <a:srgbClr val="1A1A1A"/>
                </a:solidFill>
                <a:latin typeface="Consolas" pitchFamily="34" charset="0"/>
                <a:ea typeface="Consolas" pitchFamily="34" charset="-122"/>
                <a:cs typeface="Consolas" pitchFamily="34" charset="-120"/>
              </a:rPr>
              <a:t>G</a:t>
            </a:r>
            <a:endParaRPr lang="en-US" sz="1100" dirty="0"/>
          </a:p>
        </p:txBody>
      </p:sp>
      <p:sp>
        <p:nvSpPr>
          <p:cNvPr id="14" name="Shape 11"/>
          <p:cNvSpPr/>
          <p:nvPr/>
        </p:nvSpPr>
        <p:spPr>
          <a:xfrm>
            <a:off x="5747657" y="1554480"/>
            <a:ext cx="783771" cy="2037806"/>
          </a:xfrm>
          <a:prstGeom prst="rect">
            <a:avLst/>
          </a:prstGeom>
          <a:solidFill>
            <a:srgbClr val="7FA8D4"/>
          </a:solidFill>
          <a:ln w="12700">
            <a:solidFill>
              <a:srgbClr val="1A1A1A"/>
            </a:solidFill>
            <a:prstDash val="solid"/>
          </a:ln>
        </p:spPr>
      </p:sp>
      <p:sp>
        <p:nvSpPr>
          <p:cNvPr id="15" name="Text 12"/>
          <p:cNvSpPr/>
          <p:nvPr/>
        </p:nvSpPr>
        <p:spPr>
          <a:xfrm>
            <a:off x="5747657" y="3299678"/>
            <a:ext cx="783771" cy="274320"/>
          </a:xfrm>
          <a:prstGeom prst="rect">
            <a:avLst/>
          </a:prstGeom>
          <a:noFill/>
          <a:ln/>
        </p:spPr>
        <p:txBody>
          <a:bodyPr wrap="square" lIns="0" tIns="0" rIns="0" bIns="0" rtlCol="0" anchor="ctr"/>
          <a:lstStyle/>
          <a:p>
            <a:pPr algn="ctr" indent="0" marL="0">
              <a:buNone/>
            </a:pPr>
            <a:r>
              <a:rPr lang="en-US" sz="1100" dirty="0">
                <a:solidFill>
                  <a:srgbClr val="1A1A1A"/>
                </a:solidFill>
                <a:latin typeface="Consolas" pitchFamily="34" charset="0"/>
                <a:ea typeface="Consolas" pitchFamily="34" charset="-122"/>
                <a:cs typeface="Consolas" pitchFamily="34" charset="-120"/>
              </a:rPr>
              <a:t>A</a:t>
            </a:r>
            <a:endParaRPr lang="en-US" sz="1100" dirty="0"/>
          </a:p>
        </p:txBody>
      </p:sp>
      <p:sp>
        <p:nvSpPr>
          <p:cNvPr id="16" name="Shape 13"/>
          <p:cNvSpPr/>
          <p:nvPr/>
        </p:nvSpPr>
        <p:spPr>
          <a:xfrm>
            <a:off x="6531429" y="1554480"/>
            <a:ext cx="783771" cy="2037806"/>
          </a:xfrm>
          <a:prstGeom prst="rect">
            <a:avLst/>
          </a:prstGeom>
          <a:solidFill>
            <a:srgbClr val="7FA8D4"/>
          </a:solidFill>
          <a:ln w="12700">
            <a:solidFill>
              <a:srgbClr val="1A1A1A"/>
            </a:solidFill>
            <a:prstDash val="solid"/>
          </a:ln>
        </p:spPr>
      </p:sp>
      <p:sp>
        <p:nvSpPr>
          <p:cNvPr id="17" name="Text 14"/>
          <p:cNvSpPr/>
          <p:nvPr/>
        </p:nvSpPr>
        <p:spPr>
          <a:xfrm>
            <a:off x="6531429" y="3299678"/>
            <a:ext cx="783771" cy="274320"/>
          </a:xfrm>
          <a:prstGeom prst="rect">
            <a:avLst/>
          </a:prstGeom>
          <a:noFill/>
          <a:ln/>
        </p:spPr>
        <p:txBody>
          <a:bodyPr wrap="square" lIns="0" tIns="0" rIns="0" bIns="0" rtlCol="0" anchor="ctr"/>
          <a:lstStyle/>
          <a:p>
            <a:pPr algn="ctr" indent="0" marL="0">
              <a:buNone/>
            </a:pPr>
            <a:r>
              <a:rPr lang="en-US" sz="1100" dirty="0">
                <a:solidFill>
                  <a:srgbClr val="1A1A1A"/>
                </a:solidFill>
                <a:latin typeface="Consolas" pitchFamily="34" charset="0"/>
                <a:ea typeface="Consolas" pitchFamily="34" charset="-122"/>
                <a:cs typeface="Consolas" pitchFamily="34" charset="-120"/>
              </a:rPr>
              <a:t>B</a:t>
            </a:r>
            <a:endParaRPr lang="en-US" sz="1100" dirty="0"/>
          </a:p>
        </p:txBody>
      </p:sp>
      <p:sp>
        <p:nvSpPr>
          <p:cNvPr id="18" name="Shape 15"/>
          <p:cNvSpPr/>
          <p:nvPr/>
        </p:nvSpPr>
        <p:spPr>
          <a:xfrm>
            <a:off x="2377440" y="1554480"/>
            <a:ext cx="470263" cy="1263440"/>
          </a:xfrm>
          <a:prstGeom prst="rect">
            <a:avLst/>
          </a:prstGeom>
          <a:solidFill>
            <a:srgbClr val="111111"/>
          </a:solidFill>
          <a:ln w="12700">
            <a:solidFill>
              <a:srgbClr val="000000"/>
            </a:solidFill>
            <a:prstDash val="solid"/>
          </a:ln>
        </p:spPr>
      </p:sp>
      <p:sp>
        <p:nvSpPr>
          <p:cNvPr id="19" name="Shape 16"/>
          <p:cNvSpPr/>
          <p:nvPr/>
        </p:nvSpPr>
        <p:spPr>
          <a:xfrm>
            <a:off x="3161211" y="1554480"/>
            <a:ext cx="470263" cy="1263440"/>
          </a:xfrm>
          <a:prstGeom prst="rect">
            <a:avLst/>
          </a:prstGeom>
          <a:solidFill>
            <a:srgbClr val="111111"/>
          </a:solidFill>
          <a:ln w="12700">
            <a:solidFill>
              <a:srgbClr val="000000"/>
            </a:solidFill>
            <a:prstDash val="solid"/>
          </a:ln>
        </p:spPr>
      </p:sp>
      <p:sp>
        <p:nvSpPr>
          <p:cNvPr id="20" name="Shape 17"/>
          <p:cNvSpPr/>
          <p:nvPr/>
        </p:nvSpPr>
        <p:spPr>
          <a:xfrm>
            <a:off x="4728754" y="1554480"/>
            <a:ext cx="470263" cy="1263440"/>
          </a:xfrm>
          <a:prstGeom prst="rect">
            <a:avLst/>
          </a:prstGeom>
          <a:solidFill>
            <a:srgbClr val="111111"/>
          </a:solidFill>
          <a:ln w="12700">
            <a:solidFill>
              <a:srgbClr val="000000"/>
            </a:solidFill>
            <a:prstDash val="solid"/>
          </a:ln>
        </p:spPr>
      </p:sp>
      <p:sp>
        <p:nvSpPr>
          <p:cNvPr id="21" name="Shape 18"/>
          <p:cNvSpPr/>
          <p:nvPr/>
        </p:nvSpPr>
        <p:spPr>
          <a:xfrm>
            <a:off x="5512526" y="1554480"/>
            <a:ext cx="470263" cy="1263440"/>
          </a:xfrm>
          <a:prstGeom prst="rect">
            <a:avLst/>
          </a:prstGeom>
          <a:solidFill>
            <a:srgbClr val="111111"/>
          </a:solidFill>
          <a:ln w="12700">
            <a:solidFill>
              <a:srgbClr val="000000"/>
            </a:solidFill>
            <a:prstDash val="solid"/>
          </a:ln>
        </p:spPr>
      </p:sp>
      <p:sp>
        <p:nvSpPr>
          <p:cNvPr id="22" name="Shape 19"/>
          <p:cNvSpPr/>
          <p:nvPr/>
        </p:nvSpPr>
        <p:spPr>
          <a:xfrm>
            <a:off x="6296297" y="1554480"/>
            <a:ext cx="470263" cy="1263440"/>
          </a:xfrm>
          <a:prstGeom prst="rect">
            <a:avLst/>
          </a:prstGeom>
          <a:solidFill>
            <a:srgbClr val="111111"/>
          </a:solidFill>
          <a:ln w="12700">
            <a:solidFill>
              <a:srgbClr val="000000"/>
            </a:solidFill>
            <a:prstDash val="solid"/>
          </a:ln>
        </p:spPr>
      </p:sp>
      <p:sp>
        <p:nvSpPr>
          <p:cNvPr id="23" name="Text 20"/>
          <p:cNvSpPr/>
          <p:nvPr/>
        </p:nvSpPr>
        <p:spPr>
          <a:xfrm>
            <a:off x="1828800" y="1234440"/>
            <a:ext cx="5486400" cy="274320"/>
          </a:xfrm>
          <a:prstGeom prst="rect">
            <a:avLst/>
          </a:prstGeom>
          <a:noFill/>
          <a:ln/>
        </p:spPr>
        <p:txBody>
          <a:bodyPr wrap="square" lIns="0" tIns="0" rIns="0" bIns="0" rtlCol="0" anchor="ctr"/>
          <a:lstStyle/>
          <a:p>
            <a:pPr algn="l" indent="0" marL="0">
              <a:buNone/>
            </a:pPr>
            <a:r>
              <a:rPr lang="en-US" sz="1400" dirty="0">
                <a:solidFill>
                  <a:srgbClr val="8A8A8A"/>
                </a:solidFill>
                <a:latin typeface="Consolas" pitchFamily="34" charset="0"/>
                <a:ea typeface="Consolas" pitchFamily="34" charset="-122"/>
                <a:cs typeface="Consolas" pitchFamily="34" charset="-120"/>
              </a:rPr>
              <a:t>C major</a:t>
            </a:r>
            <a:endParaRPr lang="en-US" sz="1400" dirty="0"/>
          </a:p>
        </p:txBody>
      </p:sp>
      <p:sp>
        <p:nvSpPr>
          <p:cNvPr id="24" name="Text 21"/>
          <p:cNvSpPr/>
          <p:nvPr/>
        </p:nvSpPr>
        <p:spPr>
          <a:xfrm>
            <a:off x="457200" y="4160520"/>
            <a:ext cx="8229600" cy="457200"/>
          </a:xfrm>
          <a:prstGeom prst="rect">
            <a:avLst/>
          </a:prstGeom>
          <a:noFill/>
          <a:ln/>
        </p:spPr>
        <p:txBody>
          <a:bodyPr wrap="square" lIns="0" tIns="0" rIns="0" bIns="0" rtlCol="0" anchor="ctr"/>
          <a:lstStyle/>
          <a:p>
            <a:pPr algn="ctr" indent="0" marL="0">
              <a:buNone/>
            </a:pPr>
            <a:r>
              <a:rPr lang="en-US" sz="1800" dirty="0">
                <a:solidFill>
                  <a:srgbClr val="8FCB9B"/>
                </a:solidFill>
                <a:latin typeface="Consolas" pitchFamily="34" charset="0"/>
                <a:ea typeface="Consolas" pitchFamily="34" charset="-122"/>
                <a:cs typeface="Consolas" pitchFamily="34" charset="-120"/>
              </a:rPr>
              <a:t>major scale  =  W  W  H  W  W  W  H</a:t>
            </a:r>
            <a:endParaRPr lang="en-US" sz="1800" dirty="0"/>
          </a:p>
        </p:txBody>
      </p:sp>
      <p:sp>
        <p:nvSpPr>
          <p:cNvPr id="25" name="Text 22"/>
          <p:cNvSpPr/>
          <p:nvPr/>
        </p:nvSpPr>
        <p:spPr>
          <a:xfrm>
            <a:off x="457200" y="4663440"/>
            <a:ext cx="8229600" cy="274320"/>
          </a:xfrm>
          <a:prstGeom prst="rect">
            <a:avLst/>
          </a:prstGeom>
          <a:noFill/>
          <a:ln/>
        </p:spPr>
        <p:txBody>
          <a:bodyPr wrap="square" lIns="0" tIns="0" rIns="0" bIns="0" rtlCol="0" anchor="ctr"/>
          <a:lstStyle/>
          <a:p>
            <a:pPr algn="ctr" indent="0" marL="0">
              <a:buNone/>
            </a:pPr>
            <a:r>
              <a:rPr lang="en-US" sz="1100" dirty="0">
                <a:solidFill>
                  <a:srgbClr val="8A8A8A"/>
                </a:solidFill>
                <a:latin typeface="Consolas" pitchFamily="34" charset="0"/>
                <a:ea typeface="Consolas" pitchFamily="34" charset="-122"/>
                <a:cs typeface="Consolas" pitchFamily="34" charset="-120"/>
              </a:rPr>
              <a:t>(gold = home note · blue = in the scale)</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457200" y="411480"/>
            <a:ext cx="8229600" cy="1280160"/>
          </a:xfrm>
          <a:prstGeom prst="rect">
            <a:avLst/>
          </a:prstGeom>
          <a:noFill/>
          <a:ln/>
        </p:spPr>
        <p:txBody>
          <a:bodyPr wrap="square" lIns="0" tIns="0" rIns="0" bIns="0" rtlCol="0" anchor="ctr"/>
          <a:lstStyle/>
          <a:p>
            <a:pPr algn="ctr" indent="0" marL="0">
              <a:buNone/>
            </a:pPr>
            <a:r>
              <a:rPr lang="en-US" sz="3000" b="1" dirty="0">
                <a:solidFill>
                  <a:srgbClr val="ECECEC"/>
                </a:solidFill>
                <a:latin typeface="Consolas" pitchFamily="34" charset="0"/>
                <a:ea typeface="Consolas" pitchFamily="34" charset="-122"/>
                <a:cs typeface="Consolas" pitchFamily="34" charset="-120"/>
              </a:rPr>
              <a:t>Relative keys</a:t>
            </a:r>
            <a:endParaRPr lang="en-US" sz="3000" dirty="0"/>
          </a:p>
        </p:txBody>
      </p:sp>
      <p:sp>
        <p:nvSpPr>
          <p:cNvPr id="4" name="Text 1"/>
          <p:cNvSpPr/>
          <p:nvPr/>
        </p:nvSpPr>
        <p:spPr>
          <a:xfrm>
            <a:off x="457200" y="1097280"/>
            <a:ext cx="8229600" cy="365760"/>
          </a:xfrm>
          <a:prstGeom prst="rect">
            <a:avLst/>
          </a:prstGeom>
          <a:noFill/>
          <a:ln/>
        </p:spPr>
        <p:txBody>
          <a:bodyPr wrap="square" lIns="0" tIns="0" rIns="0" bIns="0" rtlCol="0" anchor="ctr"/>
          <a:lstStyle/>
          <a:p>
            <a:pPr algn="ctr" indent="0" marL="0">
              <a:buNone/>
            </a:pPr>
            <a:r>
              <a:rPr lang="en-US" sz="1400" dirty="0">
                <a:solidFill>
                  <a:srgbClr val="8A8A8A"/>
                </a:solidFill>
                <a:latin typeface="Consolas" pitchFamily="34" charset="0"/>
                <a:ea typeface="Consolas" pitchFamily="34" charset="-122"/>
                <a:cs typeface="Consolas" pitchFamily="34" charset="-120"/>
              </a:rPr>
              <a:t>same notes — different home</a:t>
            </a:r>
            <a:endParaRPr lang="en-US" sz="1400" dirty="0"/>
          </a:p>
        </p:txBody>
      </p:sp>
      <p:sp>
        <p:nvSpPr>
          <p:cNvPr id="5" name="Shape 2"/>
          <p:cNvSpPr/>
          <p:nvPr/>
        </p:nvSpPr>
        <p:spPr>
          <a:xfrm>
            <a:off x="640080" y="1828800"/>
            <a:ext cx="522514" cy="1358537"/>
          </a:xfrm>
          <a:prstGeom prst="rect">
            <a:avLst/>
          </a:prstGeom>
          <a:solidFill>
            <a:srgbClr val="EEC643"/>
          </a:solidFill>
          <a:ln w="12700">
            <a:solidFill>
              <a:srgbClr val="1A1A1A"/>
            </a:solidFill>
            <a:prstDash val="solid"/>
          </a:ln>
        </p:spPr>
      </p:sp>
      <p:sp>
        <p:nvSpPr>
          <p:cNvPr id="6" name="Text 3"/>
          <p:cNvSpPr/>
          <p:nvPr/>
        </p:nvSpPr>
        <p:spPr>
          <a:xfrm>
            <a:off x="640080" y="2894729"/>
            <a:ext cx="522514" cy="274320"/>
          </a:xfrm>
          <a:prstGeom prst="rect">
            <a:avLst/>
          </a:prstGeom>
          <a:noFill/>
          <a:ln/>
        </p:spPr>
        <p:txBody>
          <a:bodyPr wrap="square" lIns="0" tIns="0" rIns="0" bIns="0" rtlCol="0" anchor="ctr"/>
          <a:lstStyle/>
          <a:p>
            <a:pPr algn="ctr" indent="0" marL="0">
              <a:buNone/>
            </a:pPr>
            <a:r>
              <a:rPr lang="en-US" sz="1100" dirty="0">
                <a:solidFill>
                  <a:srgbClr val="1A1A1A"/>
                </a:solidFill>
                <a:latin typeface="Consolas" pitchFamily="34" charset="0"/>
                <a:ea typeface="Consolas" pitchFamily="34" charset="-122"/>
                <a:cs typeface="Consolas" pitchFamily="34" charset="-120"/>
              </a:rPr>
              <a:t>C</a:t>
            </a:r>
            <a:endParaRPr lang="en-US" sz="1100" dirty="0"/>
          </a:p>
        </p:txBody>
      </p:sp>
      <p:sp>
        <p:nvSpPr>
          <p:cNvPr id="7" name="Shape 4"/>
          <p:cNvSpPr/>
          <p:nvPr/>
        </p:nvSpPr>
        <p:spPr>
          <a:xfrm>
            <a:off x="1162594" y="1828800"/>
            <a:ext cx="522514" cy="1358537"/>
          </a:xfrm>
          <a:prstGeom prst="rect">
            <a:avLst/>
          </a:prstGeom>
          <a:solidFill>
            <a:srgbClr val="7FA8D4"/>
          </a:solidFill>
          <a:ln w="12700">
            <a:solidFill>
              <a:srgbClr val="1A1A1A"/>
            </a:solidFill>
            <a:prstDash val="solid"/>
          </a:ln>
        </p:spPr>
      </p:sp>
      <p:sp>
        <p:nvSpPr>
          <p:cNvPr id="8" name="Text 5"/>
          <p:cNvSpPr/>
          <p:nvPr/>
        </p:nvSpPr>
        <p:spPr>
          <a:xfrm>
            <a:off x="1162594" y="2894729"/>
            <a:ext cx="522514" cy="274320"/>
          </a:xfrm>
          <a:prstGeom prst="rect">
            <a:avLst/>
          </a:prstGeom>
          <a:noFill/>
          <a:ln/>
        </p:spPr>
        <p:txBody>
          <a:bodyPr wrap="square" lIns="0" tIns="0" rIns="0" bIns="0" rtlCol="0" anchor="ctr"/>
          <a:lstStyle/>
          <a:p>
            <a:pPr algn="ctr" indent="0" marL="0">
              <a:buNone/>
            </a:pPr>
            <a:r>
              <a:rPr lang="en-US" sz="1100" dirty="0">
                <a:solidFill>
                  <a:srgbClr val="1A1A1A"/>
                </a:solidFill>
                <a:latin typeface="Consolas" pitchFamily="34" charset="0"/>
                <a:ea typeface="Consolas" pitchFamily="34" charset="-122"/>
                <a:cs typeface="Consolas" pitchFamily="34" charset="-120"/>
              </a:rPr>
              <a:t>D</a:t>
            </a:r>
            <a:endParaRPr lang="en-US" sz="1100" dirty="0"/>
          </a:p>
        </p:txBody>
      </p:sp>
      <p:sp>
        <p:nvSpPr>
          <p:cNvPr id="9" name="Shape 6"/>
          <p:cNvSpPr/>
          <p:nvPr/>
        </p:nvSpPr>
        <p:spPr>
          <a:xfrm>
            <a:off x="1685109" y="1828800"/>
            <a:ext cx="522514" cy="1358537"/>
          </a:xfrm>
          <a:prstGeom prst="rect">
            <a:avLst/>
          </a:prstGeom>
          <a:solidFill>
            <a:srgbClr val="7FA8D4"/>
          </a:solidFill>
          <a:ln w="12700">
            <a:solidFill>
              <a:srgbClr val="1A1A1A"/>
            </a:solidFill>
            <a:prstDash val="solid"/>
          </a:ln>
        </p:spPr>
      </p:sp>
      <p:sp>
        <p:nvSpPr>
          <p:cNvPr id="10" name="Text 7"/>
          <p:cNvSpPr/>
          <p:nvPr/>
        </p:nvSpPr>
        <p:spPr>
          <a:xfrm>
            <a:off x="1685109" y="2894729"/>
            <a:ext cx="522514" cy="274320"/>
          </a:xfrm>
          <a:prstGeom prst="rect">
            <a:avLst/>
          </a:prstGeom>
          <a:noFill/>
          <a:ln/>
        </p:spPr>
        <p:txBody>
          <a:bodyPr wrap="square" lIns="0" tIns="0" rIns="0" bIns="0" rtlCol="0" anchor="ctr"/>
          <a:lstStyle/>
          <a:p>
            <a:pPr algn="ctr" indent="0" marL="0">
              <a:buNone/>
            </a:pPr>
            <a:r>
              <a:rPr lang="en-US" sz="1100" dirty="0">
                <a:solidFill>
                  <a:srgbClr val="1A1A1A"/>
                </a:solidFill>
                <a:latin typeface="Consolas" pitchFamily="34" charset="0"/>
                <a:ea typeface="Consolas" pitchFamily="34" charset="-122"/>
                <a:cs typeface="Consolas" pitchFamily="34" charset="-120"/>
              </a:rPr>
              <a:t>E</a:t>
            </a:r>
            <a:endParaRPr lang="en-US" sz="1100" dirty="0"/>
          </a:p>
        </p:txBody>
      </p:sp>
      <p:sp>
        <p:nvSpPr>
          <p:cNvPr id="11" name="Shape 8"/>
          <p:cNvSpPr/>
          <p:nvPr/>
        </p:nvSpPr>
        <p:spPr>
          <a:xfrm>
            <a:off x="2207623" y="1828800"/>
            <a:ext cx="522514" cy="1358537"/>
          </a:xfrm>
          <a:prstGeom prst="rect">
            <a:avLst/>
          </a:prstGeom>
          <a:solidFill>
            <a:srgbClr val="7FA8D4"/>
          </a:solidFill>
          <a:ln w="12700">
            <a:solidFill>
              <a:srgbClr val="1A1A1A"/>
            </a:solidFill>
            <a:prstDash val="solid"/>
          </a:ln>
        </p:spPr>
      </p:sp>
      <p:sp>
        <p:nvSpPr>
          <p:cNvPr id="12" name="Text 9"/>
          <p:cNvSpPr/>
          <p:nvPr/>
        </p:nvSpPr>
        <p:spPr>
          <a:xfrm>
            <a:off x="2207623" y="2894729"/>
            <a:ext cx="522514" cy="274320"/>
          </a:xfrm>
          <a:prstGeom prst="rect">
            <a:avLst/>
          </a:prstGeom>
          <a:noFill/>
          <a:ln/>
        </p:spPr>
        <p:txBody>
          <a:bodyPr wrap="square" lIns="0" tIns="0" rIns="0" bIns="0" rtlCol="0" anchor="ctr"/>
          <a:lstStyle/>
          <a:p>
            <a:pPr algn="ctr" indent="0" marL="0">
              <a:buNone/>
            </a:pPr>
            <a:r>
              <a:rPr lang="en-US" sz="1100" dirty="0">
                <a:solidFill>
                  <a:srgbClr val="1A1A1A"/>
                </a:solidFill>
                <a:latin typeface="Consolas" pitchFamily="34" charset="0"/>
                <a:ea typeface="Consolas" pitchFamily="34" charset="-122"/>
                <a:cs typeface="Consolas" pitchFamily="34" charset="-120"/>
              </a:rPr>
              <a:t>F</a:t>
            </a:r>
            <a:endParaRPr lang="en-US" sz="1100" dirty="0"/>
          </a:p>
        </p:txBody>
      </p:sp>
      <p:sp>
        <p:nvSpPr>
          <p:cNvPr id="13" name="Shape 10"/>
          <p:cNvSpPr/>
          <p:nvPr/>
        </p:nvSpPr>
        <p:spPr>
          <a:xfrm>
            <a:off x="2730137" y="1828800"/>
            <a:ext cx="522514" cy="1358537"/>
          </a:xfrm>
          <a:prstGeom prst="rect">
            <a:avLst/>
          </a:prstGeom>
          <a:solidFill>
            <a:srgbClr val="7FA8D4"/>
          </a:solidFill>
          <a:ln w="12700">
            <a:solidFill>
              <a:srgbClr val="1A1A1A"/>
            </a:solidFill>
            <a:prstDash val="solid"/>
          </a:ln>
        </p:spPr>
      </p:sp>
      <p:sp>
        <p:nvSpPr>
          <p:cNvPr id="14" name="Text 11"/>
          <p:cNvSpPr/>
          <p:nvPr/>
        </p:nvSpPr>
        <p:spPr>
          <a:xfrm>
            <a:off x="2730137" y="2894729"/>
            <a:ext cx="522514" cy="274320"/>
          </a:xfrm>
          <a:prstGeom prst="rect">
            <a:avLst/>
          </a:prstGeom>
          <a:noFill/>
          <a:ln/>
        </p:spPr>
        <p:txBody>
          <a:bodyPr wrap="square" lIns="0" tIns="0" rIns="0" bIns="0" rtlCol="0" anchor="ctr"/>
          <a:lstStyle/>
          <a:p>
            <a:pPr algn="ctr" indent="0" marL="0">
              <a:buNone/>
            </a:pPr>
            <a:r>
              <a:rPr lang="en-US" sz="1100" dirty="0">
                <a:solidFill>
                  <a:srgbClr val="1A1A1A"/>
                </a:solidFill>
                <a:latin typeface="Consolas" pitchFamily="34" charset="0"/>
                <a:ea typeface="Consolas" pitchFamily="34" charset="-122"/>
                <a:cs typeface="Consolas" pitchFamily="34" charset="-120"/>
              </a:rPr>
              <a:t>G</a:t>
            </a:r>
            <a:endParaRPr lang="en-US" sz="1100" dirty="0"/>
          </a:p>
        </p:txBody>
      </p:sp>
      <p:sp>
        <p:nvSpPr>
          <p:cNvPr id="15" name="Shape 12"/>
          <p:cNvSpPr/>
          <p:nvPr/>
        </p:nvSpPr>
        <p:spPr>
          <a:xfrm>
            <a:off x="3252651" y="1828800"/>
            <a:ext cx="522514" cy="1358537"/>
          </a:xfrm>
          <a:prstGeom prst="rect">
            <a:avLst/>
          </a:prstGeom>
          <a:solidFill>
            <a:srgbClr val="7FA8D4"/>
          </a:solidFill>
          <a:ln w="12700">
            <a:solidFill>
              <a:srgbClr val="1A1A1A"/>
            </a:solidFill>
            <a:prstDash val="solid"/>
          </a:ln>
        </p:spPr>
      </p:sp>
      <p:sp>
        <p:nvSpPr>
          <p:cNvPr id="16" name="Text 13"/>
          <p:cNvSpPr/>
          <p:nvPr/>
        </p:nvSpPr>
        <p:spPr>
          <a:xfrm>
            <a:off x="3252651" y="2894729"/>
            <a:ext cx="522514" cy="274320"/>
          </a:xfrm>
          <a:prstGeom prst="rect">
            <a:avLst/>
          </a:prstGeom>
          <a:noFill/>
          <a:ln/>
        </p:spPr>
        <p:txBody>
          <a:bodyPr wrap="square" lIns="0" tIns="0" rIns="0" bIns="0" rtlCol="0" anchor="ctr"/>
          <a:lstStyle/>
          <a:p>
            <a:pPr algn="ctr" indent="0" marL="0">
              <a:buNone/>
            </a:pPr>
            <a:r>
              <a:rPr lang="en-US" sz="1100" dirty="0">
                <a:solidFill>
                  <a:srgbClr val="1A1A1A"/>
                </a:solidFill>
                <a:latin typeface="Consolas" pitchFamily="34" charset="0"/>
                <a:ea typeface="Consolas" pitchFamily="34" charset="-122"/>
                <a:cs typeface="Consolas" pitchFamily="34" charset="-120"/>
              </a:rPr>
              <a:t>A</a:t>
            </a:r>
            <a:endParaRPr lang="en-US" sz="1100" dirty="0"/>
          </a:p>
        </p:txBody>
      </p:sp>
      <p:sp>
        <p:nvSpPr>
          <p:cNvPr id="17" name="Shape 14"/>
          <p:cNvSpPr/>
          <p:nvPr/>
        </p:nvSpPr>
        <p:spPr>
          <a:xfrm>
            <a:off x="3775166" y="1828800"/>
            <a:ext cx="522514" cy="1358537"/>
          </a:xfrm>
          <a:prstGeom prst="rect">
            <a:avLst/>
          </a:prstGeom>
          <a:solidFill>
            <a:srgbClr val="7FA8D4"/>
          </a:solidFill>
          <a:ln w="12700">
            <a:solidFill>
              <a:srgbClr val="1A1A1A"/>
            </a:solidFill>
            <a:prstDash val="solid"/>
          </a:ln>
        </p:spPr>
      </p:sp>
      <p:sp>
        <p:nvSpPr>
          <p:cNvPr id="18" name="Text 15"/>
          <p:cNvSpPr/>
          <p:nvPr/>
        </p:nvSpPr>
        <p:spPr>
          <a:xfrm>
            <a:off x="3775166" y="2894729"/>
            <a:ext cx="522514" cy="274320"/>
          </a:xfrm>
          <a:prstGeom prst="rect">
            <a:avLst/>
          </a:prstGeom>
          <a:noFill/>
          <a:ln/>
        </p:spPr>
        <p:txBody>
          <a:bodyPr wrap="square" lIns="0" tIns="0" rIns="0" bIns="0" rtlCol="0" anchor="ctr"/>
          <a:lstStyle/>
          <a:p>
            <a:pPr algn="ctr" indent="0" marL="0">
              <a:buNone/>
            </a:pPr>
            <a:r>
              <a:rPr lang="en-US" sz="1100" dirty="0">
                <a:solidFill>
                  <a:srgbClr val="1A1A1A"/>
                </a:solidFill>
                <a:latin typeface="Consolas" pitchFamily="34" charset="0"/>
                <a:ea typeface="Consolas" pitchFamily="34" charset="-122"/>
                <a:cs typeface="Consolas" pitchFamily="34" charset="-120"/>
              </a:rPr>
              <a:t>B</a:t>
            </a:r>
            <a:endParaRPr lang="en-US" sz="1100" dirty="0"/>
          </a:p>
        </p:txBody>
      </p:sp>
      <p:sp>
        <p:nvSpPr>
          <p:cNvPr id="19" name="Shape 16"/>
          <p:cNvSpPr/>
          <p:nvPr/>
        </p:nvSpPr>
        <p:spPr>
          <a:xfrm>
            <a:off x="1005840" y="1828800"/>
            <a:ext cx="313509" cy="842293"/>
          </a:xfrm>
          <a:prstGeom prst="rect">
            <a:avLst/>
          </a:prstGeom>
          <a:solidFill>
            <a:srgbClr val="111111"/>
          </a:solidFill>
          <a:ln w="12700">
            <a:solidFill>
              <a:srgbClr val="000000"/>
            </a:solidFill>
            <a:prstDash val="solid"/>
          </a:ln>
        </p:spPr>
      </p:sp>
      <p:sp>
        <p:nvSpPr>
          <p:cNvPr id="20" name="Shape 17"/>
          <p:cNvSpPr/>
          <p:nvPr/>
        </p:nvSpPr>
        <p:spPr>
          <a:xfrm>
            <a:off x="1528354" y="1828800"/>
            <a:ext cx="313509" cy="842293"/>
          </a:xfrm>
          <a:prstGeom prst="rect">
            <a:avLst/>
          </a:prstGeom>
          <a:solidFill>
            <a:srgbClr val="111111"/>
          </a:solidFill>
          <a:ln w="12700">
            <a:solidFill>
              <a:srgbClr val="000000"/>
            </a:solidFill>
            <a:prstDash val="solid"/>
          </a:ln>
        </p:spPr>
      </p:sp>
      <p:sp>
        <p:nvSpPr>
          <p:cNvPr id="21" name="Shape 18"/>
          <p:cNvSpPr/>
          <p:nvPr/>
        </p:nvSpPr>
        <p:spPr>
          <a:xfrm>
            <a:off x="2573383" y="1828800"/>
            <a:ext cx="313509" cy="842293"/>
          </a:xfrm>
          <a:prstGeom prst="rect">
            <a:avLst/>
          </a:prstGeom>
          <a:solidFill>
            <a:srgbClr val="111111"/>
          </a:solidFill>
          <a:ln w="12700">
            <a:solidFill>
              <a:srgbClr val="000000"/>
            </a:solidFill>
            <a:prstDash val="solid"/>
          </a:ln>
        </p:spPr>
      </p:sp>
      <p:sp>
        <p:nvSpPr>
          <p:cNvPr id="22" name="Shape 19"/>
          <p:cNvSpPr/>
          <p:nvPr/>
        </p:nvSpPr>
        <p:spPr>
          <a:xfrm>
            <a:off x="3095897" y="1828800"/>
            <a:ext cx="313509" cy="842293"/>
          </a:xfrm>
          <a:prstGeom prst="rect">
            <a:avLst/>
          </a:prstGeom>
          <a:solidFill>
            <a:srgbClr val="111111"/>
          </a:solidFill>
          <a:ln w="12700">
            <a:solidFill>
              <a:srgbClr val="000000"/>
            </a:solidFill>
            <a:prstDash val="solid"/>
          </a:ln>
        </p:spPr>
      </p:sp>
      <p:sp>
        <p:nvSpPr>
          <p:cNvPr id="23" name="Shape 20"/>
          <p:cNvSpPr/>
          <p:nvPr/>
        </p:nvSpPr>
        <p:spPr>
          <a:xfrm>
            <a:off x="3618411" y="1828800"/>
            <a:ext cx="313509" cy="842293"/>
          </a:xfrm>
          <a:prstGeom prst="rect">
            <a:avLst/>
          </a:prstGeom>
          <a:solidFill>
            <a:srgbClr val="111111"/>
          </a:solidFill>
          <a:ln w="12700">
            <a:solidFill>
              <a:srgbClr val="000000"/>
            </a:solidFill>
            <a:prstDash val="solid"/>
          </a:ln>
        </p:spPr>
      </p:sp>
      <p:sp>
        <p:nvSpPr>
          <p:cNvPr id="24" name="Text 21"/>
          <p:cNvSpPr/>
          <p:nvPr/>
        </p:nvSpPr>
        <p:spPr>
          <a:xfrm>
            <a:off x="640080" y="1554480"/>
            <a:ext cx="3657600" cy="274320"/>
          </a:xfrm>
          <a:prstGeom prst="rect">
            <a:avLst/>
          </a:prstGeom>
          <a:noFill/>
          <a:ln/>
        </p:spPr>
        <p:txBody>
          <a:bodyPr wrap="square" lIns="0" tIns="0" rIns="0" bIns="0" rtlCol="0" anchor="ctr"/>
          <a:lstStyle/>
          <a:p>
            <a:pPr algn="l" indent="0" marL="0">
              <a:buNone/>
            </a:pPr>
            <a:r>
              <a:rPr lang="en-US" sz="1300" dirty="0">
                <a:solidFill>
                  <a:srgbClr val="7FA8D4"/>
                </a:solidFill>
                <a:latin typeface="Consolas" pitchFamily="34" charset="0"/>
                <a:ea typeface="Consolas" pitchFamily="34" charset="-122"/>
                <a:cs typeface="Consolas" pitchFamily="34" charset="-120"/>
              </a:rPr>
              <a:t>C major</a:t>
            </a:r>
            <a:endParaRPr lang="en-US" sz="1300" dirty="0"/>
          </a:p>
        </p:txBody>
      </p:sp>
      <p:sp>
        <p:nvSpPr>
          <p:cNvPr id="25" name="Text 22"/>
          <p:cNvSpPr/>
          <p:nvPr/>
        </p:nvSpPr>
        <p:spPr>
          <a:xfrm>
            <a:off x="4297680" y="2194560"/>
            <a:ext cx="548640" cy="1097280"/>
          </a:xfrm>
          <a:prstGeom prst="rect">
            <a:avLst/>
          </a:prstGeom>
          <a:noFill/>
          <a:ln/>
        </p:spPr>
        <p:txBody>
          <a:bodyPr wrap="square" lIns="0" tIns="0" rIns="0" bIns="0" rtlCol="0" anchor="ctr"/>
          <a:lstStyle/>
          <a:p>
            <a:pPr algn="ctr" indent="0" marL="0">
              <a:buNone/>
            </a:pPr>
            <a:r>
              <a:rPr lang="en-US" sz="3000" dirty="0">
                <a:solidFill>
                  <a:srgbClr val="8FCB9B"/>
                </a:solidFill>
                <a:latin typeface="Consolas" pitchFamily="34" charset="0"/>
                <a:ea typeface="Consolas" pitchFamily="34" charset="-122"/>
                <a:cs typeface="Consolas" pitchFamily="34" charset="-120"/>
              </a:rPr>
              <a:t>⇄</a:t>
            </a:r>
            <a:endParaRPr lang="en-US" sz="3000" dirty="0"/>
          </a:p>
        </p:txBody>
      </p:sp>
      <p:sp>
        <p:nvSpPr>
          <p:cNvPr id="26" name="Shape 23"/>
          <p:cNvSpPr/>
          <p:nvPr/>
        </p:nvSpPr>
        <p:spPr>
          <a:xfrm>
            <a:off x="4846320" y="1828800"/>
            <a:ext cx="522514" cy="1358537"/>
          </a:xfrm>
          <a:prstGeom prst="rect">
            <a:avLst/>
          </a:prstGeom>
          <a:solidFill>
            <a:srgbClr val="7FA8D4"/>
          </a:solidFill>
          <a:ln w="12700">
            <a:solidFill>
              <a:srgbClr val="1A1A1A"/>
            </a:solidFill>
            <a:prstDash val="solid"/>
          </a:ln>
        </p:spPr>
      </p:sp>
      <p:sp>
        <p:nvSpPr>
          <p:cNvPr id="27" name="Text 24"/>
          <p:cNvSpPr/>
          <p:nvPr/>
        </p:nvSpPr>
        <p:spPr>
          <a:xfrm>
            <a:off x="4846320" y="2894729"/>
            <a:ext cx="522514" cy="274320"/>
          </a:xfrm>
          <a:prstGeom prst="rect">
            <a:avLst/>
          </a:prstGeom>
          <a:noFill/>
          <a:ln/>
        </p:spPr>
        <p:txBody>
          <a:bodyPr wrap="square" lIns="0" tIns="0" rIns="0" bIns="0" rtlCol="0" anchor="ctr"/>
          <a:lstStyle/>
          <a:p>
            <a:pPr algn="ctr" indent="0" marL="0">
              <a:buNone/>
            </a:pPr>
            <a:r>
              <a:rPr lang="en-US" sz="1100" dirty="0">
                <a:solidFill>
                  <a:srgbClr val="1A1A1A"/>
                </a:solidFill>
                <a:latin typeface="Consolas" pitchFamily="34" charset="0"/>
                <a:ea typeface="Consolas" pitchFamily="34" charset="-122"/>
                <a:cs typeface="Consolas" pitchFamily="34" charset="-120"/>
              </a:rPr>
              <a:t>C</a:t>
            </a:r>
            <a:endParaRPr lang="en-US" sz="1100" dirty="0"/>
          </a:p>
        </p:txBody>
      </p:sp>
      <p:sp>
        <p:nvSpPr>
          <p:cNvPr id="28" name="Shape 25"/>
          <p:cNvSpPr/>
          <p:nvPr/>
        </p:nvSpPr>
        <p:spPr>
          <a:xfrm>
            <a:off x="5368834" y="1828800"/>
            <a:ext cx="522514" cy="1358537"/>
          </a:xfrm>
          <a:prstGeom prst="rect">
            <a:avLst/>
          </a:prstGeom>
          <a:solidFill>
            <a:srgbClr val="7FA8D4"/>
          </a:solidFill>
          <a:ln w="12700">
            <a:solidFill>
              <a:srgbClr val="1A1A1A"/>
            </a:solidFill>
            <a:prstDash val="solid"/>
          </a:ln>
        </p:spPr>
      </p:sp>
      <p:sp>
        <p:nvSpPr>
          <p:cNvPr id="29" name="Text 26"/>
          <p:cNvSpPr/>
          <p:nvPr/>
        </p:nvSpPr>
        <p:spPr>
          <a:xfrm>
            <a:off x="5368834" y="2894729"/>
            <a:ext cx="522514" cy="274320"/>
          </a:xfrm>
          <a:prstGeom prst="rect">
            <a:avLst/>
          </a:prstGeom>
          <a:noFill/>
          <a:ln/>
        </p:spPr>
        <p:txBody>
          <a:bodyPr wrap="square" lIns="0" tIns="0" rIns="0" bIns="0" rtlCol="0" anchor="ctr"/>
          <a:lstStyle/>
          <a:p>
            <a:pPr algn="ctr" indent="0" marL="0">
              <a:buNone/>
            </a:pPr>
            <a:r>
              <a:rPr lang="en-US" sz="1100" dirty="0">
                <a:solidFill>
                  <a:srgbClr val="1A1A1A"/>
                </a:solidFill>
                <a:latin typeface="Consolas" pitchFamily="34" charset="0"/>
                <a:ea typeface="Consolas" pitchFamily="34" charset="-122"/>
                <a:cs typeface="Consolas" pitchFamily="34" charset="-120"/>
              </a:rPr>
              <a:t>D</a:t>
            </a:r>
            <a:endParaRPr lang="en-US" sz="1100" dirty="0"/>
          </a:p>
        </p:txBody>
      </p:sp>
      <p:sp>
        <p:nvSpPr>
          <p:cNvPr id="30" name="Shape 27"/>
          <p:cNvSpPr/>
          <p:nvPr/>
        </p:nvSpPr>
        <p:spPr>
          <a:xfrm>
            <a:off x="5891349" y="1828800"/>
            <a:ext cx="522514" cy="1358537"/>
          </a:xfrm>
          <a:prstGeom prst="rect">
            <a:avLst/>
          </a:prstGeom>
          <a:solidFill>
            <a:srgbClr val="7FA8D4"/>
          </a:solidFill>
          <a:ln w="12700">
            <a:solidFill>
              <a:srgbClr val="1A1A1A"/>
            </a:solidFill>
            <a:prstDash val="solid"/>
          </a:ln>
        </p:spPr>
      </p:sp>
      <p:sp>
        <p:nvSpPr>
          <p:cNvPr id="31" name="Text 28"/>
          <p:cNvSpPr/>
          <p:nvPr/>
        </p:nvSpPr>
        <p:spPr>
          <a:xfrm>
            <a:off x="5891349" y="2894729"/>
            <a:ext cx="522514" cy="274320"/>
          </a:xfrm>
          <a:prstGeom prst="rect">
            <a:avLst/>
          </a:prstGeom>
          <a:noFill/>
          <a:ln/>
        </p:spPr>
        <p:txBody>
          <a:bodyPr wrap="square" lIns="0" tIns="0" rIns="0" bIns="0" rtlCol="0" anchor="ctr"/>
          <a:lstStyle/>
          <a:p>
            <a:pPr algn="ctr" indent="0" marL="0">
              <a:buNone/>
            </a:pPr>
            <a:r>
              <a:rPr lang="en-US" sz="1100" dirty="0">
                <a:solidFill>
                  <a:srgbClr val="1A1A1A"/>
                </a:solidFill>
                <a:latin typeface="Consolas" pitchFamily="34" charset="0"/>
                <a:ea typeface="Consolas" pitchFamily="34" charset="-122"/>
                <a:cs typeface="Consolas" pitchFamily="34" charset="-120"/>
              </a:rPr>
              <a:t>E</a:t>
            </a:r>
            <a:endParaRPr lang="en-US" sz="1100" dirty="0"/>
          </a:p>
        </p:txBody>
      </p:sp>
      <p:sp>
        <p:nvSpPr>
          <p:cNvPr id="32" name="Shape 29"/>
          <p:cNvSpPr/>
          <p:nvPr/>
        </p:nvSpPr>
        <p:spPr>
          <a:xfrm>
            <a:off x="6413863" y="1828800"/>
            <a:ext cx="522514" cy="1358537"/>
          </a:xfrm>
          <a:prstGeom prst="rect">
            <a:avLst/>
          </a:prstGeom>
          <a:solidFill>
            <a:srgbClr val="7FA8D4"/>
          </a:solidFill>
          <a:ln w="12700">
            <a:solidFill>
              <a:srgbClr val="1A1A1A"/>
            </a:solidFill>
            <a:prstDash val="solid"/>
          </a:ln>
        </p:spPr>
      </p:sp>
      <p:sp>
        <p:nvSpPr>
          <p:cNvPr id="33" name="Text 30"/>
          <p:cNvSpPr/>
          <p:nvPr/>
        </p:nvSpPr>
        <p:spPr>
          <a:xfrm>
            <a:off x="6413863" y="2894729"/>
            <a:ext cx="522514" cy="274320"/>
          </a:xfrm>
          <a:prstGeom prst="rect">
            <a:avLst/>
          </a:prstGeom>
          <a:noFill/>
          <a:ln/>
        </p:spPr>
        <p:txBody>
          <a:bodyPr wrap="square" lIns="0" tIns="0" rIns="0" bIns="0" rtlCol="0" anchor="ctr"/>
          <a:lstStyle/>
          <a:p>
            <a:pPr algn="ctr" indent="0" marL="0">
              <a:buNone/>
            </a:pPr>
            <a:r>
              <a:rPr lang="en-US" sz="1100" dirty="0">
                <a:solidFill>
                  <a:srgbClr val="1A1A1A"/>
                </a:solidFill>
                <a:latin typeface="Consolas" pitchFamily="34" charset="0"/>
                <a:ea typeface="Consolas" pitchFamily="34" charset="-122"/>
                <a:cs typeface="Consolas" pitchFamily="34" charset="-120"/>
              </a:rPr>
              <a:t>F</a:t>
            </a:r>
            <a:endParaRPr lang="en-US" sz="1100" dirty="0"/>
          </a:p>
        </p:txBody>
      </p:sp>
      <p:sp>
        <p:nvSpPr>
          <p:cNvPr id="34" name="Shape 31"/>
          <p:cNvSpPr/>
          <p:nvPr/>
        </p:nvSpPr>
        <p:spPr>
          <a:xfrm>
            <a:off x="6936377" y="1828800"/>
            <a:ext cx="522514" cy="1358537"/>
          </a:xfrm>
          <a:prstGeom prst="rect">
            <a:avLst/>
          </a:prstGeom>
          <a:solidFill>
            <a:srgbClr val="7FA8D4"/>
          </a:solidFill>
          <a:ln w="12700">
            <a:solidFill>
              <a:srgbClr val="1A1A1A"/>
            </a:solidFill>
            <a:prstDash val="solid"/>
          </a:ln>
        </p:spPr>
      </p:sp>
      <p:sp>
        <p:nvSpPr>
          <p:cNvPr id="35" name="Text 32"/>
          <p:cNvSpPr/>
          <p:nvPr/>
        </p:nvSpPr>
        <p:spPr>
          <a:xfrm>
            <a:off x="6936377" y="2894729"/>
            <a:ext cx="522514" cy="274320"/>
          </a:xfrm>
          <a:prstGeom prst="rect">
            <a:avLst/>
          </a:prstGeom>
          <a:noFill/>
          <a:ln/>
        </p:spPr>
        <p:txBody>
          <a:bodyPr wrap="square" lIns="0" tIns="0" rIns="0" bIns="0" rtlCol="0" anchor="ctr"/>
          <a:lstStyle/>
          <a:p>
            <a:pPr algn="ctr" indent="0" marL="0">
              <a:buNone/>
            </a:pPr>
            <a:r>
              <a:rPr lang="en-US" sz="1100" dirty="0">
                <a:solidFill>
                  <a:srgbClr val="1A1A1A"/>
                </a:solidFill>
                <a:latin typeface="Consolas" pitchFamily="34" charset="0"/>
                <a:ea typeface="Consolas" pitchFamily="34" charset="-122"/>
                <a:cs typeface="Consolas" pitchFamily="34" charset="-120"/>
              </a:rPr>
              <a:t>G</a:t>
            </a:r>
            <a:endParaRPr lang="en-US" sz="1100" dirty="0"/>
          </a:p>
        </p:txBody>
      </p:sp>
      <p:sp>
        <p:nvSpPr>
          <p:cNvPr id="36" name="Shape 33"/>
          <p:cNvSpPr/>
          <p:nvPr/>
        </p:nvSpPr>
        <p:spPr>
          <a:xfrm>
            <a:off x="7458891" y="1828800"/>
            <a:ext cx="522514" cy="1358537"/>
          </a:xfrm>
          <a:prstGeom prst="rect">
            <a:avLst/>
          </a:prstGeom>
          <a:solidFill>
            <a:srgbClr val="EEC643"/>
          </a:solidFill>
          <a:ln w="12700">
            <a:solidFill>
              <a:srgbClr val="1A1A1A"/>
            </a:solidFill>
            <a:prstDash val="solid"/>
          </a:ln>
        </p:spPr>
      </p:sp>
      <p:sp>
        <p:nvSpPr>
          <p:cNvPr id="37" name="Text 34"/>
          <p:cNvSpPr/>
          <p:nvPr/>
        </p:nvSpPr>
        <p:spPr>
          <a:xfrm>
            <a:off x="7458891" y="2894729"/>
            <a:ext cx="522514" cy="274320"/>
          </a:xfrm>
          <a:prstGeom prst="rect">
            <a:avLst/>
          </a:prstGeom>
          <a:noFill/>
          <a:ln/>
        </p:spPr>
        <p:txBody>
          <a:bodyPr wrap="square" lIns="0" tIns="0" rIns="0" bIns="0" rtlCol="0" anchor="ctr"/>
          <a:lstStyle/>
          <a:p>
            <a:pPr algn="ctr" indent="0" marL="0">
              <a:buNone/>
            </a:pPr>
            <a:r>
              <a:rPr lang="en-US" sz="1100" dirty="0">
                <a:solidFill>
                  <a:srgbClr val="1A1A1A"/>
                </a:solidFill>
                <a:latin typeface="Consolas" pitchFamily="34" charset="0"/>
                <a:ea typeface="Consolas" pitchFamily="34" charset="-122"/>
                <a:cs typeface="Consolas" pitchFamily="34" charset="-120"/>
              </a:rPr>
              <a:t>A</a:t>
            </a:r>
            <a:endParaRPr lang="en-US" sz="1100" dirty="0"/>
          </a:p>
        </p:txBody>
      </p:sp>
      <p:sp>
        <p:nvSpPr>
          <p:cNvPr id="38" name="Shape 35"/>
          <p:cNvSpPr/>
          <p:nvPr/>
        </p:nvSpPr>
        <p:spPr>
          <a:xfrm>
            <a:off x="7981406" y="1828800"/>
            <a:ext cx="522514" cy="1358537"/>
          </a:xfrm>
          <a:prstGeom prst="rect">
            <a:avLst/>
          </a:prstGeom>
          <a:solidFill>
            <a:srgbClr val="7FA8D4"/>
          </a:solidFill>
          <a:ln w="12700">
            <a:solidFill>
              <a:srgbClr val="1A1A1A"/>
            </a:solidFill>
            <a:prstDash val="solid"/>
          </a:ln>
        </p:spPr>
      </p:sp>
      <p:sp>
        <p:nvSpPr>
          <p:cNvPr id="39" name="Text 36"/>
          <p:cNvSpPr/>
          <p:nvPr/>
        </p:nvSpPr>
        <p:spPr>
          <a:xfrm>
            <a:off x="7981406" y="2894729"/>
            <a:ext cx="522514" cy="274320"/>
          </a:xfrm>
          <a:prstGeom prst="rect">
            <a:avLst/>
          </a:prstGeom>
          <a:noFill/>
          <a:ln/>
        </p:spPr>
        <p:txBody>
          <a:bodyPr wrap="square" lIns="0" tIns="0" rIns="0" bIns="0" rtlCol="0" anchor="ctr"/>
          <a:lstStyle/>
          <a:p>
            <a:pPr algn="ctr" indent="0" marL="0">
              <a:buNone/>
            </a:pPr>
            <a:r>
              <a:rPr lang="en-US" sz="1100" dirty="0">
                <a:solidFill>
                  <a:srgbClr val="1A1A1A"/>
                </a:solidFill>
                <a:latin typeface="Consolas" pitchFamily="34" charset="0"/>
                <a:ea typeface="Consolas" pitchFamily="34" charset="-122"/>
                <a:cs typeface="Consolas" pitchFamily="34" charset="-120"/>
              </a:rPr>
              <a:t>B</a:t>
            </a:r>
            <a:endParaRPr lang="en-US" sz="1100" dirty="0"/>
          </a:p>
        </p:txBody>
      </p:sp>
      <p:sp>
        <p:nvSpPr>
          <p:cNvPr id="40" name="Shape 37"/>
          <p:cNvSpPr/>
          <p:nvPr/>
        </p:nvSpPr>
        <p:spPr>
          <a:xfrm>
            <a:off x="5212080" y="1828800"/>
            <a:ext cx="313509" cy="842293"/>
          </a:xfrm>
          <a:prstGeom prst="rect">
            <a:avLst/>
          </a:prstGeom>
          <a:solidFill>
            <a:srgbClr val="111111"/>
          </a:solidFill>
          <a:ln w="12700">
            <a:solidFill>
              <a:srgbClr val="000000"/>
            </a:solidFill>
            <a:prstDash val="solid"/>
          </a:ln>
        </p:spPr>
      </p:sp>
      <p:sp>
        <p:nvSpPr>
          <p:cNvPr id="41" name="Shape 38"/>
          <p:cNvSpPr/>
          <p:nvPr/>
        </p:nvSpPr>
        <p:spPr>
          <a:xfrm>
            <a:off x="5734594" y="1828800"/>
            <a:ext cx="313509" cy="842293"/>
          </a:xfrm>
          <a:prstGeom prst="rect">
            <a:avLst/>
          </a:prstGeom>
          <a:solidFill>
            <a:srgbClr val="111111"/>
          </a:solidFill>
          <a:ln w="12700">
            <a:solidFill>
              <a:srgbClr val="000000"/>
            </a:solidFill>
            <a:prstDash val="solid"/>
          </a:ln>
        </p:spPr>
      </p:sp>
      <p:sp>
        <p:nvSpPr>
          <p:cNvPr id="42" name="Shape 39"/>
          <p:cNvSpPr/>
          <p:nvPr/>
        </p:nvSpPr>
        <p:spPr>
          <a:xfrm>
            <a:off x="6779623" y="1828800"/>
            <a:ext cx="313509" cy="842293"/>
          </a:xfrm>
          <a:prstGeom prst="rect">
            <a:avLst/>
          </a:prstGeom>
          <a:solidFill>
            <a:srgbClr val="111111"/>
          </a:solidFill>
          <a:ln w="12700">
            <a:solidFill>
              <a:srgbClr val="000000"/>
            </a:solidFill>
            <a:prstDash val="solid"/>
          </a:ln>
        </p:spPr>
      </p:sp>
      <p:sp>
        <p:nvSpPr>
          <p:cNvPr id="43" name="Shape 40"/>
          <p:cNvSpPr/>
          <p:nvPr/>
        </p:nvSpPr>
        <p:spPr>
          <a:xfrm>
            <a:off x="7302137" y="1828800"/>
            <a:ext cx="313509" cy="842293"/>
          </a:xfrm>
          <a:prstGeom prst="rect">
            <a:avLst/>
          </a:prstGeom>
          <a:solidFill>
            <a:srgbClr val="111111"/>
          </a:solidFill>
          <a:ln w="12700">
            <a:solidFill>
              <a:srgbClr val="000000"/>
            </a:solidFill>
            <a:prstDash val="solid"/>
          </a:ln>
        </p:spPr>
      </p:sp>
      <p:sp>
        <p:nvSpPr>
          <p:cNvPr id="44" name="Shape 41"/>
          <p:cNvSpPr/>
          <p:nvPr/>
        </p:nvSpPr>
        <p:spPr>
          <a:xfrm>
            <a:off x="7824651" y="1828800"/>
            <a:ext cx="313509" cy="842293"/>
          </a:xfrm>
          <a:prstGeom prst="rect">
            <a:avLst/>
          </a:prstGeom>
          <a:solidFill>
            <a:srgbClr val="111111"/>
          </a:solidFill>
          <a:ln w="12700">
            <a:solidFill>
              <a:srgbClr val="000000"/>
            </a:solidFill>
            <a:prstDash val="solid"/>
          </a:ln>
        </p:spPr>
      </p:sp>
      <p:sp>
        <p:nvSpPr>
          <p:cNvPr id="45" name="Text 42"/>
          <p:cNvSpPr/>
          <p:nvPr/>
        </p:nvSpPr>
        <p:spPr>
          <a:xfrm>
            <a:off x="4846320" y="1554480"/>
            <a:ext cx="3657600" cy="274320"/>
          </a:xfrm>
          <a:prstGeom prst="rect">
            <a:avLst/>
          </a:prstGeom>
          <a:noFill/>
          <a:ln/>
        </p:spPr>
        <p:txBody>
          <a:bodyPr wrap="square" lIns="0" tIns="0" rIns="0" bIns="0" rtlCol="0" anchor="ctr"/>
          <a:lstStyle/>
          <a:p>
            <a:pPr algn="l" indent="0" marL="0">
              <a:buNone/>
            </a:pPr>
            <a:r>
              <a:rPr lang="en-US" sz="1300" dirty="0">
                <a:solidFill>
                  <a:srgbClr val="EEC643"/>
                </a:solidFill>
                <a:latin typeface="Consolas" pitchFamily="34" charset="0"/>
                <a:ea typeface="Consolas" pitchFamily="34" charset="-122"/>
                <a:cs typeface="Consolas" pitchFamily="34" charset="-120"/>
              </a:rPr>
              <a:t>A minor</a:t>
            </a:r>
            <a:endParaRPr lang="en-US" sz="1300" dirty="0"/>
          </a:p>
        </p:txBody>
      </p:sp>
      <p:sp>
        <p:nvSpPr>
          <p:cNvPr id="46" name="Text 43"/>
          <p:cNvSpPr/>
          <p:nvPr/>
        </p:nvSpPr>
        <p:spPr>
          <a:xfrm>
            <a:off x="457200" y="4389120"/>
            <a:ext cx="8229600" cy="365760"/>
          </a:xfrm>
          <a:prstGeom prst="rect">
            <a:avLst/>
          </a:prstGeom>
          <a:noFill/>
          <a:ln/>
        </p:spPr>
        <p:txBody>
          <a:bodyPr wrap="square" lIns="0" tIns="0" rIns="0" bIns="0" rtlCol="0" anchor="ctr"/>
          <a:lstStyle/>
          <a:p>
            <a:pPr algn="ctr" indent="0" marL="0">
              <a:buNone/>
            </a:pPr>
            <a:r>
              <a:rPr lang="en-US" sz="1300" i="1" dirty="0">
                <a:solidFill>
                  <a:srgbClr val="8A8A8A"/>
                </a:solidFill>
                <a:latin typeface="Consolas" pitchFamily="34" charset="0"/>
                <a:ea typeface="Consolas" pitchFamily="34" charset="-122"/>
                <a:cs typeface="Consolas" pitchFamily="34" charset="-120"/>
              </a:rPr>
              <a:t>the gold key is the only thing that moved</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457200" y="1371600"/>
            <a:ext cx="8229600" cy="548640"/>
          </a:xfrm>
          <a:prstGeom prst="rect">
            <a:avLst/>
          </a:prstGeom>
          <a:noFill/>
          <a:ln/>
        </p:spPr>
        <p:txBody>
          <a:bodyPr wrap="square" lIns="0" tIns="0" rIns="0" bIns="0" rtlCol="0" anchor="ctr"/>
          <a:lstStyle/>
          <a:p>
            <a:pPr algn="ctr" indent="0" marL="0">
              <a:buNone/>
            </a:pPr>
            <a:r>
              <a:rPr lang="en-US" sz="1800" spc="600" kern="0" dirty="0">
                <a:solidFill>
                  <a:srgbClr val="8A8A8A"/>
                </a:solidFill>
                <a:latin typeface="Consolas" pitchFamily="34" charset="0"/>
                <a:ea typeface="Consolas" pitchFamily="34" charset="-122"/>
                <a:cs typeface="Consolas" pitchFamily="34" charset="-120"/>
              </a:rPr>
              <a:t>ACT 3</a:t>
            </a:r>
            <a:endParaRPr lang="en-US" sz="1800" dirty="0"/>
          </a:p>
        </p:txBody>
      </p:sp>
      <p:sp>
        <p:nvSpPr>
          <p:cNvPr id="4" name="Text 1"/>
          <p:cNvSpPr/>
          <p:nvPr/>
        </p:nvSpPr>
        <p:spPr>
          <a:xfrm>
            <a:off x="457200" y="1920240"/>
            <a:ext cx="8229600" cy="1097280"/>
          </a:xfrm>
          <a:prstGeom prst="rect">
            <a:avLst/>
          </a:prstGeom>
          <a:noFill/>
          <a:ln/>
        </p:spPr>
        <p:txBody>
          <a:bodyPr wrap="square" lIns="0" tIns="0" rIns="0" bIns="0" rtlCol="0" anchor="ctr"/>
          <a:lstStyle/>
          <a:p>
            <a:pPr algn="ctr" indent="0" marL="0">
              <a:buNone/>
            </a:pPr>
            <a:r>
              <a:rPr lang="en-US" sz="5400" b="1" dirty="0">
                <a:solidFill>
                  <a:srgbClr val="ECECEC"/>
                </a:solidFill>
                <a:latin typeface="Consolas" pitchFamily="34" charset="0"/>
                <a:ea typeface="Consolas" pitchFamily="34" charset="-122"/>
                <a:cs typeface="Consolas" pitchFamily="34" charset="-120"/>
              </a:rPr>
              <a:t>MAKE</a:t>
            </a:r>
            <a:endParaRPr lang="en-US" sz="5400" dirty="0"/>
          </a:p>
        </p:txBody>
      </p:sp>
      <p:sp>
        <p:nvSpPr>
          <p:cNvPr id="5" name="Text 2"/>
          <p:cNvSpPr/>
          <p:nvPr/>
        </p:nvSpPr>
        <p:spPr>
          <a:xfrm>
            <a:off x="457200" y="3108960"/>
            <a:ext cx="8229600" cy="548640"/>
          </a:xfrm>
          <a:prstGeom prst="rect">
            <a:avLst/>
          </a:prstGeom>
          <a:noFill/>
          <a:ln/>
        </p:spPr>
        <p:txBody>
          <a:bodyPr wrap="square" lIns="0" tIns="0" rIns="0" bIns="0" rtlCol="0" anchor="ctr"/>
          <a:lstStyle/>
          <a:p>
            <a:pPr algn="ctr" indent="0" marL="0">
              <a:buNone/>
            </a:pPr>
            <a:r>
              <a:rPr lang="en-US" sz="1600" dirty="0">
                <a:solidFill>
                  <a:srgbClr val="8FCB9B"/>
                </a:solidFill>
                <a:latin typeface="Consolas" pitchFamily="34" charset="0"/>
                <a:ea typeface="Consolas" pitchFamily="34" charset="-122"/>
                <a:cs typeface="Consolas" pitchFamily="34" charset="-120"/>
              </a:rPr>
              <a:t>now — open the app</a:t>
            </a:r>
            <a:endParaRPr lang="en-US" sz="1600" dirty="0"/>
          </a:p>
        </p:txBody>
      </p:sp>
      <p:sp>
        <p:nvSpPr>
          <p:cNvPr id="6" name="Shape 3"/>
          <p:cNvSpPr/>
          <p:nvPr/>
        </p:nvSpPr>
        <p:spPr>
          <a:xfrm>
            <a:off x="2103120" y="4023360"/>
            <a:ext cx="4937760" cy="640080"/>
          </a:xfrm>
          <a:prstGeom prst="rect">
            <a:avLst/>
          </a:prstGeom>
          <a:solidFill>
            <a:srgbClr val="242424"/>
          </a:solidFill>
          <a:ln w="19050">
            <a:solidFill>
              <a:srgbClr val="8FCB9B"/>
            </a:solidFill>
            <a:prstDash val="solid"/>
          </a:ln>
        </p:spPr>
      </p:sp>
      <p:sp>
        <p:nvSpPr>
          <p:cNvPr id="7" name="Text 4"/>
          <p:cNvSpPr/>
          <p:nvPr/>
        </p:nvSpPr>
        <p:spPr>
          <a:xfrm>
            <a:off x="2103120" y="4023360"/>
            <a:ext cx="4937760" cy="640080"/>
          </a:xfrm>
          <a:prstGeom prst="rect">
            <a:avLst/>
          </a:prstGeom>
          <a:noFill/>
          <a:ln/>
        </p:spPr>
        <p:txBody>
          <a:bodyPr wrap="square" lIns="0" tIns="0" rIns="0" bIns="0" rtlCol="0" anchor="ctr"/>
          <a:lstStyle/>
          <a:p>
            <a:pPr algn="ctr" indent="0" marL="0">
              <a:buNone/>
            </a:pPr>
            <a:r>
              <a:rPr lang="en-US" sz="1800" dirty="0">
                <a:solidFill>
                  <a:srgbClr val="6FB7C9"/>
                </a:solidFill>
                <a:latin typeface="Consolas" pitchFamily="34" charset="0"/>
                <a:ea typeface="Consolas" pitchFamily="34" charset="-122"/>
                <a:cs typeface="Consolas" pitchFamily="34" charset="-120"/>
              </a:rPr>
              <a:t>[ your app URL here ]</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457200" y="411480"/>
            <a:ext cx="8229600" cy="1280160"/>
          </a:xfrm>
          <a:prstGeom prst="rect">
            <a:avLst/>
          </a:prstGeom>
          <a:noFill/>
          <a:ln/>
        </p:spPr>
        <p:txBody>
          <a:bodyPr wrap="square" lIns="0" tIns="0" rIns="0" bIns="0" rtlCol="0" anchor="ctr"/>
          <a:lstStyle/>
          <a:p>
            <a:pPr algn="ctr" indent="0" marL="0">
              <a:buNone/>
            </a:pPr>
            <a:r>
              <a:rPr lang="en-US" sz="2800" b="1" dirty="0">
                <a:solidFill>
                  <a:srgbClr val="ECECEC"/>
                </a:solidFill>
                <a:latin typeface="Consolas" pitchFamily="34" charset="0"/>
                <a:ea typeface="Consolas" pitchFamily="34" charset="-122"/>
                <a:cs typeface="Consolas" pitchFamily="34" charset="-120"/>
              </a:rPr>
              <a:t>The interface, in one row</a:t>
            </a:r>
            <a:endParaRPr lang="en-US" sz="2800" dirty="0"/>
          </a:p>
        </p:txBody>
      </p:sp>
      <p:sp>
        <p:nvSpPr>
          <p:cNvPr id="4" name="Shape 1"/>
          <p:cNvSpPr/>
          <p:nvPr/>
        </p:nvSpPr>
        <p:spPr>
          <a:xfrm>
            <a:off x="914400" y="1280160"/>
            <a:ext cx="7315200" cy="2011680"/>
          </a:xfrm>
          <a:prstGeom prst="rect">
            <a:avLst/>
          </a:prstGeom>
          <a:solidFill>
            <a:srgbClr val="242424"/>
          </a:solidFill>
          <a:ln w="12700">
            <a:solidFill>
              <a:srgbClr val="454545"/>
            </a:solidFill>
            <a:prstDash val="dash"/>
          </a:ln>
        </p:spPr>
      </p:sp>
      <p:sp>
        <p:nvSpPr>
          <p:cNvPr id="5" name="Text 2"/>
          <p:cNvSpPr/>
          <p:nvPr/>
        </p:nvSpPr>
        <p:spPr>
          <a:xfrm>
            <a:off x="1005840" y="1280160"/>
            <a:ext cx="7132320" cy="2011680"/>
          </a:xfrm>
          <a:prstGeom prst="rect">
            <a:avLst/>
          </a:prstGeom>
          <a:noFill/>
          <a:ln/>
        </p:spPr>
        <p:txBody>
          <a:bodyPr wrap="square" lIns="0" tIns="0" rIns="0" bIns="0" rtlCol="0" anchor="ctr"/>
          <a:lstStyle/>
          <a:p>
            <a:pPr algn="ctr" indent="0" marL="0">
              <a:buNone/>
            </a:pPr>
            <a:r>
              <a:rPr lang="en-US" sz="1400" dirty="0">
                <a:solidFill>
                  <a:srgbClr val="8A8A8A"/>
                </a:solidFill>
                <a:latin typeface="Consolas" pitchFamily="34" charset="0"/>
                <a:ea typeface="Consolas" pitchFamily="34" charset="-122"/>
                <a:cs typeface="Consolas" pitchFamily="34" charset="-120"/>
              </a:rPr>
              <a:t>[ screenshot: one TapeLoopRow, expanded editor ]</a:t>
            </a:r>
            <a:endParaRPr lang="en-US" sz="1400" dirty="0"/>
          </a:p>
        </p:txBody>
      </p:sp>
      <p:sp>
        <p:nvSpPr>
          <p:cNvPr id="6" name="Text 3"/>
          <p:cNvSpPr/>
          <p:nvPr/>
        </p:nvSpPr>
        <p:spPr>
          <a:xfrm>
            <a:off x="1280160" y="3474720"/>
            <a:ext cx="6583680" cy="1463040"/>
          </a:xfrm>
          <a:prstGeom prst="rect">
            <a:avLst/>
          </a:prstGeom>
          <a:noFill/>
          <a:ln/>
        </p:spPr>
        <p:txBody>
          <a:bodyPr wrap="square" lIns="0" tIns="0" rIns="0" bIns="0" rtlCol="0" anchor="ctr"/>
          <a:lstStyle/>
          <a:p>
            <a:pPr algn="l" marL="342900" indent="-342900">
              <a:spcAft>
                <a:spcPts val="600"/>
              </a:spcAft>
              <a:buSzPct val="100000"/>
              <a:buChar char="•"/>
            </a:pPr>
            <a:r>
              <a:rPr lang="en-US" sz="1350" dirty="0">
                <a:solidFill>
                  <a:srgbClr val="EEC643"/>
                </a:solidFill>
                <a:latin typeface="Consolas" pitchFamily="34" charset="0"/>
                <a:ea typeface="Consolas" pitchFamily="34" charset="-122"/>
                <a:cs typeface="Consolas" pitchFamily="34" charset="-120"/>
              </a:rPr>
              <a:t>tape dial — loop length (this is your phasing knob)</a:t>
            </a:r>
            <a:endParaRPr lang="en-US" sz="1350" dirty="0"/>
          </a:p>
          <a:p>
            <a:pPr algn="l" marL="342900" indent="-342900">
              <a:spcAft>
                <a:spcPts val="600"/>
              </a:spcAft>
              <a:buSzPct val="100000"/>
              <a:buChar char="•"/>
            </a:pPr>
            <a:r>
              <a:rPr lang="en-US" sz="1350" dirty="0">
                <a:solidFill>
                  <a:srgbClr val="ECECEC"/>
                </a:solidFill>
                <a:latin typeface="Consolas" pitchFamily="34" charset="0"/>
                <a:ea typeface="Consolas" pitchFamily="34" charset="-122"/>
                <a:cs typeface="Consolas" pitchFamily="34" charset="-120"/>
              </a:rPr>
              <a:t>fill — how much of the tape is melody vs. silence</a:t>
            </a:r>
            <a:endParaRPr lang="en-US" sz="1350" dirty="0"/>
          </a:p>
          <a:p>
            <a:pPr algn="l" marL="342900" indent="-342900">
              <a:spcAft>
                <a:spcPts val="600"/>
              </a:spcAft>
              <a:buSzPct val="100000"/>
              <a:buChar char="•"/>
            </a:pPr>
            <a:r>
              <a:rPr lang="en-US" sz="1350" dirty="0">
                <a:solidFill>
                  <a:srgbClr val="7FA8D4"/>
                </a:solidFill>
                <a:latin typeface="Consolas" pitchFamily="34" charset="0"/>
                <a:ea typeface="Consolas" pitchFamily="34" charset="-122"/>
                <a:cs typeface="Consolas" pitchFamily="34" charset="-120"/>
              </a:rPr>
              <a:t>root + scale — the key (everything you just learned)</a:t>
            </a:r>
            <a:endParaRPr lang="en-US" sz="1350" dirty="0"/>
          </a:p>
          <a:p>
            <a:pPr algn="l" marL="342900" indent="-342900">
              <a:spcAft>
                <a:spcPts val="600"/>
              </a:spcAft>
              <a:buSzPct val="100000"/>
              <a:buChar char="•"/>
            </a:pPr>
            <a:r>
              <a:rPr lang="en-US" sz="1350" dirty="0">
                <a:solidFill>
                  <a:srgbClr val="ECECEC"/>
                </a:solidFill>
                <a:latin typeface="Consolas" pitchFamily="34" charset="0"/>
                <a:ea typeface="Consolas" pitchFamily="34" charset="-122"/>
                <a:cs typeface="Consolas" pitchFamily="34" charset="-120"/>
              </a:rPr>
              <a:t>the grid — paint notes; press play</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1A1A"/>
        </a:solidFill>
      </p:bgPr>
    </p:bg>
    <p:spTree>
      <p:nvGrpSpPr>
        <p:cNvPr id="1" name=""/>
        <p:cNvGrpSpPr/>
        <p:nvPr/>
      </p:nvGrpSpPr>
      <p:grpSpPr>
        <a:xfrm>
          <a:off x="0" y="0"/>
          <a:ext cx="0" cy="0"/>
          <a:chOff x="0" y="0"/>
          <a:chExt cx="0" cy="0"/>
        </a:xfrm>
      </p:grpSpPr>
      <p:sp>
        <p:nvSpPr>
          <p:cNvPr id="3" name="Shape 0"/>
          <p:cNvSpPr/>
          <p:nvPr/>
        </p:nvSpPr>
        <p:spPr>
          <a:xfrm>
            <a:off x="0" y="0"/>
            <a:ext cx="228600" cy="5143500"/>
          </a:xfrm>
          <a:prstGeom prst="rect">
            <a:avLst/>
          </a:prstGeom>
          <a:solidFill>
            <a:srgbClr val="8FCB9B"/>
          </a:solidFill>
          <a:ln/>
        </p:spPr>
      </p:sp>
      <p:sp>
        <p:nvSpPr>
          <p:cNvPr id="4" name="Text 1"/>
          <p:cNvSpPr/>
          <p:nvPr/>
        </p:nvSpPr>
        <p:spPr>
          <a:xfrm>
            <a:off x="548640" y="502920"/>
            <a:ext cx="5486400" cy="365760"/>
          </a:xfrm>
          <a:prstGeom prst="rect">
            <a:avLst/>
          </a:prstGeom>
          <a:noFill/>
          <a:ln/>
        </p:spPr>
        <p:txBody>
          <a:bodyPr wrap="square" lIns="0" tIns="0" rIns="0" bIns="0" rtlCol="0" anchor="ctr"/>
          <a:lstStyle/>
          <a:p>
            <a:pPr indent="0" marL="0">
              <a:buNone/>
            </a:pPr>
            <a:r>
              <a:rPr lang="en-US" sz="1300" spc="400" kern="0" dirty="0">
                <a:solidFill>
                  <a:srgbClr val="8FCB9B"/>
                </a:solidFill>
                <a:latin typeface="Consolas" pitchFamily="34" charset="0"/>
                <a:ea typeface="Consolas" pitchFamily="34" charset="-122"/>
                <a:cs typeface="Consolas" pitchFamily="34" charset="-120"/>
              </a:rPr>
              <a:t>HANDS-ON</a:t>
            </a:r>
            <a:endParaRPr lang="en-US" sz="1300" dirty="0"/>
          </a:p>
        </p:txBody>
      </p:sp>
      <p:sp>
        <p:nvSpPr>
          <p:cNvPr id="5" name="Text 2"/>
          <p:cNvSpPr/>
          <p:nvPr/>
        </p:nvSpPr>
        <p:spPr>
          <a:xfrm>
            <a:off x="548640" y="960120"/>
            <a:ext cx="6858000" cy="822960"/>
          </a:xfrm>
          <a:prstGeom prst="rect">
            <a:avLst/>
          </a:prstGeom>
          <a:noFill/>
          <a:ln/>
        </p:spPr>
        <p:txBody>
          <a:bodyPr wrap="square" lIns="0" tIns="0" rIns="0" bIns="0" rtlCol="0" anchor="ctr"/>
          <a:lstStyle/>
          <a:p>
            <a:pPr indent="0" marL="0">
              <a:buNone/>
            </a:pPr>
            <a:r>
              <a:rPr lang="en-US" sz="3400" b="1" dirty="0">
                <a:solidFill>
                  <a:srgbClr val="ECECEC"/>
                </a:solidFill>
                <a:latin typeface="Consolas" pitchFamily="34" charset="0"/>
                <a:ea typeface="Consolas" pitchFamily="34" charset="-122"/>
                <a:cs typeface="Consolas" pitchFamily="34" charset="-120"/>
              </a:rPr>
              <a:t>Build a loop</a:t>
            </a:r>
            <a:endParaRPr lang="en-US" sz="3400" dirty="0"/>
          </a:p>
        </p:txBody>
      </p:sp>
      <p:sp>
        <p:nvSpPr>
          <p:cNvPr id="6" name="Text 3"/>
          <p:cNvSpPr/>
          <p:nvPr/>
        </p:nvSpPr>
        <p:spPr>
          <a:xfrm>
            <a:off x="6400800" y="502920"/>
            <a:ext cx="2194560" cy="365760"/>
          </a:xfrm>
          <a:prstGeom prst="rect">
            <a:avLst/>
          </a:prstGeom>
          <a:noFill/>
          <a:ln/>
        </p:spPr>
        <p:txBody>
          <a:bodyPr wrap="square" lIns="0" tIns="0" rIns="0" bIns="0" rtlCol="0" anchor="ctr"/>
          <a:lstStyle/>
          <a:p>
            <a:pPr algn="r" indent="0" marL="0">
              <a:buNone/>
            </a:pPr>
            <a:r>
              <a:rPr lang="en-US" sz="1400" dirty="0">
                <a:solidFill>
                  <a:srgbClr val="8A8A8A"/>
                </a:solidFill>
                <a:latin typeface="Consolas" pitchFamily="34" charset="0"/>
                <a:ea typeface="Consolas" pitchFamily="34" charset="-122"/>
                <a:cs typeface="Consolas" pitchFamily="34" charset="-120"/>
              </a:rPr>
              <a:t>~10 min</a:t>
            </a:r>
            <a:endParaRPr lang="en-US" sz="1400" dirty="0"/>
          </a:p>
        </p:txBody>
      </p:sp>
      <p:sp>
        <p:nvSpPr>
          <p:cNvPr id="7" name="Text 4"/>
          <p:cNvSpPr/>
          <p:nvPr/>
        </p:nvSpPr>
        <p:spPr>
          <a:xfrm>
            <a:off x="822960" y="2103120"/>
            <a:ext cx="7498080" cy="2560320"/>
          </a:xfrm>
          <a:prstGeom prst="rect">
            <a:avLst/>
          </a:prstGeom>
          <a:noFill/>
          <a:ln/>
        </p:spPr>
        <p:txBody>
          <a:bodyPr wrap="square" lIns="0" tIns="0" rIns="0" bIns="0" rtlCol="0" anchor="ctr"/>
          <a:lstStyle/>
          <a:p>
            <a:pPr algn="l" marL="342900" indent="-342900">
              <a:spcAft>
                <a:spcPts val="1200"/>
              </a:spcAft>
              <a:buSzPct val="100000"/>
              <a:buFont typeface="+mj-lt"/>
              <a:buAutoNum type="arabicPeriod" startAt="1"/>
            </a:pPr>
            <a:r>
              <a:rPr lang="en-US" sz="1700" dirty="0">
                <a:solidFill>
                  <a:srgbClr val="ECECEC"/>
                </a:solidFill>
                <a:latin typeface="Consolas" pitchFamily="34" charset="0"/>
                <a:ea typeface="Consolas" pitchFamily="34" charset="-122"/>
                <a:cs typeface="Consolas" pitchFamily="34" charset="-120"/>
              </a:rPr>
              <a:t>pick a scale and a root you like</a:t>
            </a:r>
            <a:endParaRPr lang="en-US" sz="1700" dirty="0"/>
          </a:p>
          <a:p>
            <a:pPr algn="l" marL="342900" indent="-342900">
              <a:spcAft>
                <a:spcPts val="1200"/>
              </a:spcAft>
              <a:buSzPct val="100000"/>
              <a:buFont typeface="+mj-lt"/>
              <a:buAutoNum type="arabicPeriod" startAt="1"/>
            </a:pPr>
            <a:r>
              <a:rPr lang="en-US" sz="1700" dirty="0">
                <a:solidFill>
                  <a:srgbClr val="ECECEC"/>
                </a:solidFill>
                <a:latin typeface="Consolas" pitchFamily="34" charset="0"/>
                <a:ea typeface="Consolas" pitchFamily="34" charset="-122"/>
                <a:cs typeface="Consolas" pitchFamily="34" charset="-120"/>
              </a:rPr>
              <a:t>paint a few notes on the grid</a:t>
            </a:r>
            <a:endParaRPr lang="en-US" sz="1700" dirty="0"/>
          </a:p>
          <a:p>
            <a:pPr algn="l" marL="342900" indent="-342900">
              <a:spcAft>
                <a:spcPts val="1200"/>
              </a:spcAft>
              <a:buSzPct val="100000"/>
              <a:buFont typeface="+mj-lt"/>
              <a:buAutoNum type="arabicPeriod" startAt="1"/>
            </a:pPr>
            <a:r>
              <a:rPr lang="en-US" sz="1700" dirty="0">
                <a:solidFill>
                  <a:srgbClr val="ECECEC"/>
                </a:solidFill>
                <a:latin typeface="Consolas" pitchFamily="34" charset="0"/>
                <a:ea typeface="Consolas" pitchFamily="34" charset="-122"/>
                <a:cs typeface="Consolas" pitchFamily="34" charset="-120"/>
              </a:rPr>
              <a:t>press play — adjust fill until it breathes</a:t>
            </a:r>
            <a:endParaRPr lang="en-US" sz="1700" dirty="0"/>
          </a:p>
          <a:p>
            <a:pPr algn="l" marL="342900" indent="-342900">
              <a:spcAft>
                <a:spcPts val="1200"/>
              </a:spcAft>
              <a:buSzPct val="100000"/>
              <a:buFont typeface="+mj-lt"/>
              <a:buAutoNum type="arabicPeriod" startAt="1"/>
            </a:pPr>
            <a:r>
              <a:rPr lang="en-US" sz="1700" dirty="0">
                <a:solidFill>
                  <a:srgbClr val="ECECEC"/>
                </a:solidFill>
                <a:latin typeface="Consolas" pitchFamily="34" charset="0"/>
                <a:ea typeface="Consolas" pitchFamily="34" charset="-122"/>
                <a:cs typeface="Consolas" pitchFamily="34" charset="-120"/>
              </a:rPr>
              <a:t>try a different instrument</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1A1A"/>
        </a:solidFill>
      </p:bgPr>
    </p:bg>
    <p:spTree>
      <p:nvGrpSpPr>
        <p:cNvPr id="1" name=""/>
        <p:cNvGrpSpPr/>
        <p:nvPr/>
      </p:nvGrpSpPr>
      <p:grpSpPr>
        <a:xfrm>
          <a:off x="0" y="0"/>
          <a:ext cx="0" cy="0"/>
          <a:chOff x="0" y="0"/>
          <a:chExt cx="0" cy="0"/>
        </a:xfrm>
      </p:grpSpPr>
      <p:sp>
        <p:nvSpPr>
          <p:cNvPr id="3" name="Shape 0"/>
          <p:cNvSpPr/>
          <p:nvPr/>
        </p:nvSpPr>
        <p:spPr>
          <a:xfrm>
            <a:off x="0" y="0"/>
            <a:ext cx="228600" cy="5143500"/>
          </a:xfrm>
          <a:prstGeom prst="rect">
            <a:avLst/>
          </a:prstGeom>
          <a:solidFill>
            <a:srgbClr val="8FCB9B"/>
          </a:solidFill>
          <a:ln/>
        </p:spPr>
      </p:sp>
      <p:sp>
        <p:nvSpPr>
          <p:cNvPr id="4" name="Text 1"/>
          <p:cNvSpPr/>
          <p:nvPr/>
        </p:nvSpPr>
        <p:spPr>
          <a:xfrm>
            <a:off x="548640" y="502920"/>
            <a:ext cx="5486400" cy="365760"/>
          </a:xfrm>
          <a:prstGeom prst="rect">
            <a:avLst/>
          </a:prstGeom>
          <a:noFill/>
          <a:ln/>
        </p:spPr>
        <p:txBody>
          <a:bodyPr wrap="square" lIns="0" tIns="0" rIns="0" bIns="0" rtlCol="0" anchor="ctr"/>
          <a:lstStyle/>
          <a:p>
            <a:pPr indent="0" marL="0">
              <a:buNone/>
            </a:pPr>
            <a:r>
              <a:rPr lang="en-US" sz="1300" spc="400" kern="0" dirty="0">
                <a:solidFill>
                  <a:srgbClr val="8FCB9B"/>
                </a:solidFill>
                <a:latin typeface="Consolas" pitchFamily="34" charset="0"/>
                <a:ea typeface="Consolas" pitchFamily="34" charset="-122"/>
                <a:cs typeface="Consolas" pitchFamily="34" charset="-120"/>
              </a:rPr>
              <a:t>HANDS-ON</a:t>
            </a:r>
            <a:endParaRPr lang="en-US" sz="1300" dirty="0"/>
          </a:p>
        </p:txBody>
      </p:sp>
      <p:sp>
        <p:nvSpPr>
          <p:cNvPr id="5" name="Text 2"/>
          <p:cNvSpPr/>
          <p:nvPr/>
        </p:nvSpPr>
        <p:spPr>
          <a:xfrm>
            <a:off x="548640" y="960120"/>
            <a:ext cx="6858000" cy="822960"/>
          </a:xfrm>
          <a:prstGeom prst="rect">
            <a:avLst/>
          </a:prstGeom>
          <a:noFill/>
          <a:ln/>
        </p:spPr>
        <p:txBody>
          <a:bodyPr wrap="square" lIns="0" tIns="0" rIns="0" bIns="0" rtlCol="0" anchor="ctr"/>
          <a:lstStyle/>
          <a:p>
            <a:pPr indent="0" marL="0">
              <a:buNone/>
            </a:pPr>
            <a:r>
              <a:rPr lang="en-US" sz="3400" b="1" dirty="0">
                <a:solidFill>
                  <a:srgbClr val="ECECEC"/>
                </a:solidFill>
                <a:latin typeface="Consolas" pitchFamily="34" charset="0"/>
                <a:ea typeface="Consolas" pitchFamily="34" charset="-122"/>
                <a:cs typeface="Consolas" pitchFamily="34" charset="-120"/>
              </a:rPr>
              <a:t>Make it phase</a:t>
            </a:r>
            <a:endParaRPr lang="en-US" sz="3400" dirty="0"/>
          </a:p>
        </p:txBody>
      </p:sp>
      <p:sp>
        <p:nvSpPr>
          <p:cNvPr id="6" name="Text 3"/>
          <p:cNvSpPr/>
          <p:nvPr/>
        </p:nvSpPr>
        <p:spPr>
          <a:xfrm>
            <a:off x="6400800" y="502920"/>
            <a:ext cx="2194560" cy="365760"/>
          </a:xfrm>
          <a:prstGeom prst="rect">
            <a:avLst/>
          </a:prstGeom>
          <a:noFill/>
          <a:ln/>
        </p:spPr>
        <p:txBody>
          <a:bodyPr wrap="square" lIns="0" tIns="0" rIns="0" bIns="0" rtlCol="0" anchor="ctr"/>
          <a:lstStyle/>
          <a:p>
            <a:pPr algn="r" indent="0" marL="0">
              <a:buNone/>
            </a:pPr>
            <a:r>
              <a:rPr lang="en-US" sz="1400" dirty="0">
                <a:solidFill>
                  <a:srgbClr val="8A8A8A"/>
                </a:solidFill>
                <a:latin typeface="Consolas" pitchFamily="34" charset="0"/>
                <a:ea typeface="Consolas" pitchFamily="34" charset="-122"/>
                <a:cs typeface="Consolas" pitchFamily="34" charset="-120"/>
              </a:rPr>
              <a:t>~7 min</a:t>
            </a:r>
            <a:endParaRPr lang="en-US" sz="1400" dirty="0"/>
          </a:p>
        </p:txBody>
      </p:sp>
      <p:sp>
        <p:nvSpPr>
          <p:cNvPr id="7" name="Text 4"/>
          <p:cNvSpPr/>
          <p:nvPr/>
        </p:nvSpPr>
        <p:spPr>
          <a:xfrm>
            <a:off x="822960" y="2103120"/>
            <a:ext cx="7498080" cy="2560320"/>
          </a:xfrm>
          <a:prstGeom prst="rect">
            <a:avLst/>
          </a:prstGeom>
          <a:noFill/>
          <a:ln/>
        </p:spPr>
        <p:txBody>
          <a:bodyPr wrap="square" lIns="0" tIns="0" rIns="0" bIns="0" rtlCol="0" anchor="ctr"/>
          <a:lstStyle/>
          <a:p>
            <a:pPr algn="l" marL="342900" indent="-342900">
              <a:spcAft>
                <a:spcPts val="1200"/>
              </a:spcAft>
              <a:buSzPct val="100000"/>
              <a:buFont typeface="+mj-lt"/>
              <a:buAutoNum type="arabicPeriod" startAt="1"/>
            </a:pPr>
            <a:r>
              <a:rPr lang="en-US" sz="1700" dirty="0">
                <a:solidFill>
                  <a:srgbClr val="ECECEC"/>
                </a:solidFill>
                <a:latin typeface="Consolas" pitchFamily="34" charset="0"/>
                <a:ea typeface="Consolas" pitchFamily="34" charset="-122"/>
                <a:cs typeface="Consolas" pitchFamily="34" charset="-120"/>
              </a:rPr>
              <a:t>duplicate your loop (or add a second)</a:t>
            </a:r>
            <a:endParaRPr lang="en-US" sz="1700" dirty="0"/>
          </a:p>
          <a:p>
            <a:pPr algn="l" marL="342900" indent="-342900">
              <a:spcAft>
                <a:spcPts val="1200"/>
              </a:spcAft>
              <a:buSzPct val="100000"/>
              <a:buFont typeface="+mj-lt"/>
              <a:buAutoNum type="arabicPeriod" startAt="1"/>
            </a:pPr>
            <a:r>
              <a:rPr lang="en-US" sz="1700" dirty="0">
                <a:solidFill>
                  <a:srgbClr val="ECECEC"/>
                </a:solidFill>
                <a:latin typeface="Consolas" pitchFamily="34" charset="0"/>
                <a:ea typeface="Consolas" pitchFamily="34" charset="-122"/>
                <a:cs typeface="Consolas" pitchFamily="34" charset="-120"/>
              </a:rPr>
              <a:t>give it a DIFFERENT length on the tape dial</a:t>
            </a:r>
            <a:endParaRPr lang="en-US" sz="1700" dirty="0"/>
          </a:p>
          <a:p>
            <a:pPr algn="l" marL="342900" indent="-342900">
              <a:spcAft>
                <a:spcPts val="1200"/>
              </a:spcAft>
              <a:buSzPct val="100000"/>
              <a:buFont typeface="+mj-lt"/>
              <a:buAutoNum type="arabicPeriod" startAt="1"/>
            </a:pPr>
            <a:r>
              <a:rPr lang="en-US" sz="1700" dirty="0">
                <a:solidFill>
                  <a:srgbClr val="ECECEC"/>
                </a:solidFill>
                <a:latin typeface="Consolas" pitchFamily="34" charset="0"/>
                <a:ea typeface="Consolas" pitchFamily="34" charset="-122"/>
                <a:cs typeface="Consolas" pitchFamily="34" charset="-120"/>
              </a:rPr>
              <a:t>play both — listen to them drift apart</a:t>
            </a:r>
            <a:endParaRPr lang="en-US" sz="1700" dirty="0"/>
          </a:p>
          <a:p>
            <a:pPr algn="l" marL="342900" indent="-342900">
              <a:spcAft>
                <a:spcPts val="1200"/>
              </a:spcAft>
              <a:buSzPct val="100000"/>
              <a:buFont typeface="+mj-lt"/>
              <a:buAutoNum type="arabicPeriod" startAt="1"/>
            </a:pPr>
            <a:r>
              <a:rPr lang="en-US" sz="1700" dirty="0">
                <a:solidFill>
                  <a:srgbClr val="ECECEC"/>
                </a:solidFill>
                <a:latin typeface="Consolas" pitchFamily="34" charset="0"/>
                <a:ea typeface="Consolas" pitchFamily="34" charset="-122"/>
                <a:cs typeface="Consolas" pitchFamily="34" charset="-120"/>
              </a:rPr>
              <a:t>coprime lengths drift the longest</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1A1A"/>
        </a:solidFill>
      </p:bgPr>
    </p:bg>
    <p:spTree>
      <p:nvGrpSpPr>
        <p:cNvPr id="1" name=""/>
        <p:cNvGrpSpPr/>
        <p:nvPr/>
      </p:nvGrpSpPr>
      <p:grpSpPr>
        <a:xfrm>
          <a:off x="0" y="0"/>
          <a:ext cx="0" cy="0"/>
          <a:chOff x="0" y="0"/>
          <a:chExt cx="0" cy="0"/>
        </a:xfrm>
      </p:grpSpPr>
      <p:sp>
        <p:nvSpPr>
          <p:cNvPr id="3" name="Shape 0"/>
          <p:cNvSpPr/>
          <p:nvPr/>
        </p:nvSpPr>
        <p:spPr>
          <a:xfrm>
            <a:off x="0" y="0"/>
            <a:ext cx="228600" cy="5143500"/>
          </a:xfrm>
          <a:prstGeom prst="rect">
            <a:avLst/>
          </a:prstGeom>
          <a:solidFill>
            <a:srgbClr val="8FCB9B"/>
          </a:solidFill>
          <a:ln/>
        </p:spPr>
      </p:sp>
      <p:sp>
        <p:nvSpPr>
          <p:cNvPr id="4" name="Text 1"/>
          <p:cNvSpPr/>
          <p:nvPr/>
        </p:nvSpPr>
        <p:spPr>
          <a:xfrm>
            <a:off x="548640" y="502920"/>
            <a:ext cx="5486400" cy="365760"/>
          </a:xfrm>
          <a:prstGeom prst="rect">
            <a:avLst/>
          </a:prstGeom>
          <a:noFill/>
          <a:ln/>
        </p:spPr>
        <p:txBody>
          <a:bodyPr wrap="square" lIns="0" tIns="0" rIns="0" bIns="0" rtlCol="0" anchor="ctr"/>
          <a:lstStyle/>
          <a:p>
            <a:pPr indent="0" marL="0">
              <a:buNone/>
            </a:pPr>
            <a:r>
              <a:rPr lang="en-US" sz="1300" spc="400" kern="0" dirty="0">
                <a:solidFill>
                  <a:srgbClr val="8FCB9B"/>
                </a:solidFill>
                <a:latin typeface="Consolas" pitchFamily="34" charset="0"/>
                <a:ea typeface="Consolas" pitchFamily="34" charset="-122"/>
                <a:cs typeface="Consolas" pitchFamily="34" charset="-120"/>
              </a:rPr>
              <a:t>HANDS-ON</a:t>
            </a:r>
            <a:endParaRPr lang="en-US" sz="1300" dirty="0"/>
          </a:p>
        </p:txBody>
      </p:sp>
      <p:sp>
        <p:nvSpPr>
          <p:cNvPr id="5" name="Text 2"/>
          <p:cNvSpPr/>
          <p:nvPr/>
        </p:nvSpPr>
        <p:spPr>
          <a:xfrm>
            <a:off x="548640" y="960120"/>
            <a:ext cx="6858000" cy="822960"/>
          </a:xfrm>
          <a:prstGeom prst="rect">
            <a:avLst/>
          </a:prstGeom>
          <a:noFill/>
          <a:ln/>
        </p:spPr>
        <p:txBody>
          <a:bodyPr wrap="square" lIns="0" tIns="0" rIns="0" bIns="0" rtlCol="0" anchor="ctr"/>
          <a:lstStyle/>
          <a:p>
            <a:pPr indent="0" marL="0">
              <a:buNone/>
            </a:pPr>
            <a:r>
              <a:rPr lang="en-US" sz="3400" b="1" dirty="0">
                <a:solidFill>
                  <a:srgbClr val="ECECEC"/>
                </a:solidFill>
                <a:latin typeface="Consolas" pitchFamily="34" charset="0"/>
                <a:ea typeface="Consolas" pitchFamily="34" charset="-122"/>
                <a:cs typeface="Consolas" pitchFamily="34" charset="-120"/>
              </a:rPr>
              <a:t>Pick your one</a:t>
            </a:r>
            <a:endParaRPr lang="en-US" sz="3400" dirty="0"/>
          </a:p>
        </p:txBody>
      </p:sp>
      <p:sp>
        <p:nvSpPr>
          <p:cNvPr id="6" name="Text 3"/>
          <p:cNvSpPr/>
          <p:nvPr/>
        </p:nvSpPr>
        <p:spPr>
          <a:xfrm>
            <a:off x="6400800" y="502920"/>
            <a:ext cx="2194560" cy="365760"/>
          </a:xfrm>
          <a:prstGeom prst="rect">
            <a:avLst/>
          </a:prstGeom>
          <a:noFill/>
          <a:ln/>
        </p:spPr>
        <p:txBody>
          <a:bodyPr wrap="square" lIns="0" tIns="0" rIns="0" bIns="0" rtlCol="0" anchor="ctr"/>
          <a:lstStyle/>
          <a:p>
            <a:pPr algn="r" indent="0" marL="0">
              <a:buNone/>
            </a:pPr>
            <a:r>
              <a:rPr lang="en-US" sz="1400" dirty="0">
                <a:solidFill>
                  <a:srgbClr val="8A8A8A"/>
                </a:solidFill>
                <a:latin typeface="Consolas" pitchFamily="34" charset="0"/>
                <a:ea typeface="Consolas" pitchFamily="34" charset="-122"/>
                <a:cs typeface="Consolas" pitchFamily="34" charset="-120"/>
              </a:rPr>
              <a:t>~5 min</a:t>
            </a:r>
            <a:endParaRPr lang="en-US" sz="1400" dirty="0"/>
          </a:p>
        </p:txBody>
      </p:sp>
      <p:sp>
        <p:nvSpPr>
          <p:cNvPr id="7" name="Text 4"/>
          <p:cNvSpPr/>
          <p:nvPr/>
        </p:nvSpPr>
        <p:spPr>
          <a:xfrm>
            <a:off x="822960" y="2103120"/>
            <a:ext cx="7498080" cy="2560320"/>
          </a:xfrm>
          <a:prstGeom prst="rect">
            <a:avLst/>
          </a:prstGeom>
          <a:noFill/>
          <a:ln/>
        </p:spPr>
        <p:txBody>
          <a:bodyPr wrap="square" lIns="0" tIns="0" rIns="0" bIns="0" rtlCol="0" anchor="ctr"/>
          <a:lstStyle/>
          <a:p>
            <a:pPr algn="l" marL="342900" indent="-342900">
              <a:spcAft>
                <a:spcPts val="1200"/>
              </a:spcAft>
              <a:buSzPct val="100000"/>
              <a:buFont typeface="+mj-lt"/>
              <a:buAutoNum type="arabicPeriod" startAt="1"/>
            </a:pPr>
            <a:r>
              <a:rPr lang="en-US" sz="1700" dirty="0">
                <a:solidFill>
                  <a:srgbClr val="ECECEC"/>
                </a:solidFill>
                <a:latin typeface="Consolas" pitchFamily="34" charset="0"/>
                <a:ea typeface="Consolas" pitchFamily="34" charset="-122"/>
                <a:cs typeface="Consolas" pitchFamily="34" charset="-120"/>
              </a:rPr>
              <a:t>mute everything except your best loop</a:t>
            </a:r>
            <a:endParaRPr lang="en-US" sz="1700" dirty="0"/>
          </a:p>
          <a:p>
            <a:pPr algn="l" marL="342900" indent="-342900">
              <a:spcAft>
                <a:spcPts val="1200"/>
              </a:spcAft>
              <a:buSzPct val="100000"/>
              <a:buFont typeface="+mj-lt"/>
              <a:buAutoNum type="arabicPeriod" startAt="1"/>
            </a:pPr>
            <a:r>
              <a:rPr lang="en-US" sz="1700" dirty="0">
                <a:solidFill>
                  <a:srgbClr val="ECECEC"/>
                </a:solidFill>
                <a:latin typeface="Consolas" pitchFamily="34" charset="0"/>
                <a:ea typeface="Consolas" pitchFamily="34" charset="-122"/>
                <a:cs typeface="Consolas" pitchFamily="34" charset="-120"/>
              </a:rPr>
              <a:t>tune its key to taste</a:t>
            </a:r>
            <a:endParaRPr lang="en-US" sz="1700" dirty="0"/>
          </a:p>
          <a:p>
            <a:pPr algn="l" marL="342900" indent="-342900">
              <a:spcAft>
                <a:spcPts val="1200"/>
              </a:spcAft>
              <a:buSzPct val="100000"/>
              <a:buFont typeface="+mj-lt"/>
              <a:buAutoNum type="arabicPeriod" startAt="1"/>
            </a:pPr>
            <a:r>
              <a:rPr lang="en-US" sz="1700" dirty="0">
                <a:solidFill>
                  <a:srgbClr val="ECECEC"/>
                </a:solidFill>
                <a:latin typeface="Consolas" pitchFamily="34" charset="0"/>
                <a:ea typeface="Consolas" pitchFamily="34" charset="-122"/>
                <a:cs typeface="Consolas" pitchFamily="34" charset="-120"/>
              </a:rPr>
              <a:t>we're about to play them all together</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A1A1A"/>
        </a:solidFill>
      </p:bgPr>
    </p:bg>
    <p:spTree>
      <p:nvGrpSpPr>
        <p:cNvPr id="1" name=""/>
        <p:cNvGrpSpPr/>
        <p:nvPr/>
      </p:nvGrpSpPr>
      <p:grpSpPr>
        <a:xfrm>
          <a:off x="0" y="0"/>
          <a:ext cx="0" cy="0"/>
          <a:chOff x="0" y="0"/>
          <a:chExt cx="0" cy="0"/>
        </a:xfrm>
      </p:grpSpPr>
      <p:sp>
        <p:nvSpPr>
          <p:cNvPr id="3" name="Shape 0"/>
          <p:cNvSpPr/>
          <p:nvPr/>
        </p:nvSpPr>
        <p:spPr>
          <a:xfrm>
            <a:off x="0" y="0"/>
            <a:ext cx="9144000" cy="5143500"/>
          </a:xfrm>
          <a:prstGeom prst="rect">
            <a:avLst/>
          </a:prstGeom>
          <a:solidFill>
            <a:srgbClr val="0E0E0E"/>
          </a:solidFill>
          <a:ln/>
        </p:spPr>
      </p:sp>
      <p:sp>
        <p:nvSpPr>
          <p:cNvPr id="4" name="Text 1"/>
          <p:cNvSpPr/>
          <p:nvPr/>
        </p:nvSpPr>
        <p:spPr>
          <a:xfrm>
            <a:off x="457200" y="1371600"/>
            <a:ext cx="8229600" cy="1097280"/>
          </a:xfrm>
          <a:prstGeom prst="rect">
            <a:avLst/>
          </a:prstGeom>
          <a:noFill/>
          <a:ln/>
        </p:spPr>
        <p:txBody>
          <a:bodyPr wrap="square" lIns="0" tIns="0" rIns="0" bIns="0" rtlCol="0" anchor="ctr"/>
          <a:lstStyle/>
          <a:p>
            <a:pPr algn="ctr" indent="0" marL="0">
              <a:buNone/>
            </a:pPr>
            <a:r>
              <a:rPr lang="en-US" sz="5800" b="1" dirty="0">
                <a:solidFill>
                  <a:srgbClr val="8FCB9B"/>
                </a:solidFill>
                <a:latin typeface="Consolas" pitchFamily="34" charset="0"/>
                <a:ea typeface="Consolas" pitchFamily="34" charset="-122"/>
                <a:cs typeface="Consolas" pitchFamily="34" charset="-120"/>
              </a:rPr>
              <a:t>THE FINALE</a:t>
            </a:r>
            <a:endParaRPr lang="en-US" sz="5800" dirty="0"/>
          </a:p>
        </p:txBody>
      </p:sp>
      <p:sp>
        <p:nvSpPr>
          <p:cNvPr id="5" name="Text 2"/>
          <p:cNvSpPr/>
          <p:nvPr/>
        </p:nvSpPr>
        <p:spPr>
          <a:xfrm>
            <a:off x="457200" y="2560320"/>
            <a:ext cx="8229600" cy="457200"/>
          </a:xfrm>
          <a:prstGeom prst="rect">
            <a:avLst/>
          </a:prstGeom>
          <a:noFill/>
          <a:ln/>
        </p:spPr>
        <p:txBody>
          <a:bodyPr wrap="square" lIns="0" tIns="0" rIns="0" bIns="0" rtlCol="0" anchor="ctr"/>
          <a:lstStyle/>
          <a:p>
            <a:pPr algn="ctr" indent="0" marL="0">
              <a:buNone/>
            </a:pPr>
            <a:r>
              <a:rPr lang="en-US" sz="1800" dirty="0">
                <a:solidFill>
                  <a:srgbClr val="ECECEC"/>
                </a:solidFill>
                <a:latin typeface="Consolas" pitchFamily="34" charset="0"/>
                <a:ea typeface="Consolas" pitchFamily="34" charset="-122"/>
                <a:cs typeface="Consolas" pitchFamily="34" charset="-120"/>
              </a:rPr>
              <a:t>one loop per laptop · the room is the orchestra</a:t>
            </a:r>
            <a:endParaRPr lang="en-US" sz="1800" dirty="0"/>
          </a:p>
        </p:txBody>
      </p:sp>
      <p:sp>
        <p:nvSpPr>
          <p:cNvPr id="6" name="Text 3"/>
          <p:cNvSpPr/>
          <p:nvPr/>
        </p:nvSpPr>
        <p:spPr>
          <a:xfrm>
            <a:off x="457200" y="3291840"/>
            <a:ext cx="8229600" cy="457200"/>
          </a:xfrm>
          <a:prstGeom prst="rect">
            <a:avLst/>
          </a:prstGeom>
          <a:noFill/>
          <a:ln/>
        </p:spPr>
        <p:txBody>
          <a:bodyPr wrap="square" lIns="0" tIns="0" rIns="0" bIns="0" rtlCol="0" anchor="ctr"/>
          <a:lstStyle/>
          <a:p>
            <a:pPr algn="ctr" indent="0" marL="0">
              <a:buNone/>
            </a:pPr>
            <a:r>
              <a:rPr lang="en-US" sz="1400" dirty="0">
                <a:solidFill>
                  <a:srgbClr val="EEC643"/>
                </a:solidFill>
                <a:latin typeface="Consolas" pitchFamily="34" charset="0"/>
                <a:ea typeface="Consolas" pitchFamily="34" charset="-122"/>
                <a:cs typeface="Consolas" pitchFamily="34" charset="-120"/>
              </a:rPr>
              <a:t>you conduct: shared key from the toolbar · nudge the pace · let it drift</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1A1A"/>
        </a:solidFill>
      </p:bgPr>
    </p:bg>
    <p:spTree>
      <p:nvGrpSpPr>
        <p:cNvPr id="1" name=""/>
        <p:cNvGrpSpPr/>
        <p:nvPr/>
      </p:nvGrpSpPr>
      <p:grpSpPr>
        <a:xfrm>
          <a:off x="0" y="0"/>
          <a:ext cx="0" cy="0"/>
          <a:chOff x="0" y="0"/>
          <a:chExt cx="0" cy="0"/>
        </a:xfrm>
      </p:grpSpPr>
      <p:sp>
        <p:nvSpPr>
          <p:cNvPr id="3" name="Shape 0"/>
          <p:cNvSpPr/>
          <p:nvPr/>
        </p:nvSpPr>
        <p:spPr>
          <a:xfrm>
            <a:off x="640080" y="731520"/>
            <a:ext cx="5212080" cy="3657600"/>
          </a:xfrm>
          <a:prstGeom prst="rect">
            <a:avLst/>
          </a:prstGeom>
          <a:solidFill>
            <a:srgbClr val="E6E6E6"/>
          </a:solidFill>
          <a:ln/>
        </p:spPr>
      </p:sp>
      <p:sp>
        <p:nvSpPr>
          <p:cNvPr id="4" name="Text 1"/>
          <p:cNvSpPr/>
          <p:nvPr/>
        </p:nvSpPr>
        <p:spPr>
          <a:xfrm>
            <a:off x="868680" y="914400"/>
            <a:ext cx="4754880" cy="3291840"/>
          </a:xfrm>
          <a:prstGeom prst="rect">
            <a:avLst/>
          </a:prstGeom>
          <a:noFill/>
          <a:ln/>
        </p:spPr>
        <p:txBody>
          <a:bodyPr wrap="square" lIns="0" tIns="0" rIns="0" bIns="0" rtlCol="0" anchor="ctr"/>
          <a:lstStyle/>
          <a:p>
            <a:pPr algn="l" indent="0" marL="0">
              <a:lnSpc>
                <a:spcPct val="115000"/>
              </a:lnSpc>
              <a:buNone/>
            </a:pPr>
            <a:r>
              <a:rPr lang="en-US" sz="1350" dirty="0">
                <a:solidFill>
                  <a:srgbClr val="1A1A1A"/>
                </a:solidFill>
                <a:latin typeface="Consolas" pitchFamily="34" charset="0"/>
                <a:ea typeface="Consolas" pitchFamily="34" charset="-122"/>
                <a:cs typeface="Consolas" pitchFamily="34" charset="-120"/>
              </a:rPr>
              <a:t>"I think that the system is as right as you judge it to be. If for some reason you don't like a bit of it you must trust your intuition on that. I don't take a doctrinaire approach to systems."</a:t>
            </a:r>
            <a:endParaRPr lang="en-US" sz="1350" dirty="0"/>
          </a:p>
        </p:txBody>
      </p:sp>
      <p:sp>
        <p:nvSpPr>
          <p:cNvPr id="5" name="Shape 2"/>
          <p:cNvSpPr/>
          <p:nvPr/>
        </p:nvSpPr>
        <p:spPr>
          <a:xfrm>
            <a:off x="6126480" y="1371600"/>
            <a:ext cx="2468880" cy="2377440"/>
          </a:xfrm>
          <a:prstGeom prst="rect">
            <a:avLst/>
          </a:prstGeom>
          <a:solidFill>
            <a:srgbClr val="242424"/>
          </a:solidFill>
          <a:ln w="12700">
            <a:solidFill>
              <a:srgbClr val="454545"/>
            </a:solidFill>
            <a:prstDash val="dash"/>
          </a:ln>
        </p:spPr>
      </p:sp>
      <p:sp>
        <p:nvSpPr>
          <p:cNvPr id="6" name="Text 3"/>
          <p:cNvSpPr/>
          <p:nvPr/>
        </p:nvSpPr>
        <p:spPr>
          <a:xfrm>
            <a:off x="6217920" y="1371600"/>
            <a:ext cx="2286000" cy="2377440"/>
          </a:xfrm>
          <a:prstGeom prst="rect">
            <a:avLst/>
          </a:prstGeom>
          <a:noFill/>
          <a:ln/>
        </p:spPr>
        <p:txBody>
          <a:bodyPr wrap="square" lIns="0" tIns="0" rIns="0" bIns="0" rtlCol="0" anchor="ctr"/>
          <a:lstStyle/>
          <a:p>
            <a:pPr algn="ctr" indent="0" marL="0">
              <a:buNone/>
            </a:pPr>
            <a:r>
              <a:rPr lang="en-US" sz="1400" dirty="0">
                <a:solidFill>
                  <a:srgbClr val="8A8A8A"/>
                </a:solidFill>
                <a:latin typeface="Consolas" pitchFamily="34" charset="0"/>
                <a:ea typeface="Consolas" pitchFamily="34" charset="-122"/>
                <a:cs typeface="Consolas" pitchFamily="34" charset="-120"/>
              </a:rPr>
              <a:t>[ Eno at the tape machine —</a:t>
            </a:r>
            <a:endParaRPr lang="en-US" sz="1400" dirty="0"/>
          </a:p>
          <a:p>
            <a:pPr algn="ctr" indent="0" marL="0">
              <a:buNone/>
            </a:pPr>
            <a:r>
              <a:rPr lang="en-US" sz="1400" dirty="0">
                <a:solidFill>
                  <a:srgbClr val="8A8A8A"/>
                </a:solidFill>
                <a:latin typeface="Consolas" pitchFamily="34" charset="0"/>
                <a:ea typeface="Consolas" pitchFamily="34" charset="-122"/>
                <a:cs typeface="Consolas" pitchFamily="34" charset="-120"/>
              </a:rPr>
              <a:t>reuse photo from old deck ]</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457200" y="1645920"/>
            <a:ext cx="8229600" cy="731520"/>
          </a:xfrm>
          <a:prstGeom prst="rect">
            <a:avLst/>
          </a:prstGeom>
          <a:noFill/>
          <a:ln/>
        </p:spPr>
        <p:txBody>
          <a:bodyPr wrap="square" lIns="0" tIns="0" rIns="0" bIns="0" rtlCol="0" anchor="ctr"/>
          <a:lstStyle/>
          <a:p>
            <a:pPr algn="ctr" indent="0" marL="0">
              <a:buNone/>
            </a:pPr>
            <a:r>
              <a:rPr lang="en-US" sz="3000" b="1" dirty="0">
                <a:solidFill>
                  <a:srgbClr val="ECECEC"/>
                </a:solidFill>
                <a:latin typeface="Consolas" pitchFamily="34" charset="0"/>
                <a:ea typeface="Consolas" pitchFamily="34" charset="-122"/>
                <a:cs typeface="Consolas" pitchFamily="34" charset="-120"/>
              </a:rPr>
              <a:t>thanks for making noise with me</a:t>
            </a:r>
            <a:endParaRPr lang="en-US" sz="3000" dirty="0"/>
          </a:p>
        </p:txBody>
      </p:sp>
      <p:sp>
        <p:nvSpPr>
          <p:cNvPr id="4" name="Text 1"/>
          <p:cNvSpPr/>
          <p:nvPr/>
        </p:nvSpPr>
        <p:spPr>
          <a:xfrm>
            <a:off x="457200" y="2651760"/>
            <a:ext cx="8229600" cy="457200"/>
          </a:xfrm>
          <a:prstGeom prst="rect">
            <a:avLst/>
          </a:prstGeom>
          <a:noFill/>
          <a:ln/>
        </p:spPr>
        <p:txBody>
          <a:bodyPr wrap="square" lIns="0" tIns="0" rIns="0" bIns="0" rtlCol="0" anchor="ctr"/>
          <a:lstStyle/>
          <a:p>
            <a:pPr algn="ctr" indent="0" marL="0">
              <a:buNone/>
            </a:pPr>
            <a:r>
              <a:rPr lang="en-US" sz="1600" dirty="0">
                <a:solidFill>
                  <a:srgbClr val="6FB7C9"/>
                </a:solidFill>
                <a:latin typeface="Consolas" pitchFamily="34" charset="0"/>
                <a:ea typeface="Consolas" pitchFamily="34" charset="-122"/>
                <a:cs typeface="Consolas" pitchFamily="34" charset="-120"/>
              </a:rPr>
              <a:t>[ app URL ]   ·   [ your contact / @handle ]</a:t>
            </a:r>
            <a:endParaRPr lang="en-US" sz="1600" dirty="0"/>
          </a:p>
        </p:txBody>
      </p:sp>
      <p:sp>
        <p:nvSpPr>
          <p:cNvPr id="5" name="Text 2"/>
          <p:cNvSpPr/>
          <p:nvPr/>
        </p:nvSpPr>
        <p:spPr>
          <a:xfrm>
            <a:off x="457200" y="4389120"/>
            <a:ext cx="8229600" cy="365760"/>
          </a:xfrm>
          <a:prstGeom prst="rect">
            <a:avLst/>
          </a:prstGeom>
          <a:noFill/>
          <a:ln/>
        </p:spPr>
        <p:txBody>
          <a:bodyPr wrap="square" lIns="0" tIns="0" rIns="0" bIns="0" rtlCol="0" anchor="ctr"/>
          <a:lstStyle/>
          <a:p>
            <a:pPr algn="ctr" indent="0" marL="0">
              <a:buNone/>
            </a:pPr>
            <a:r>
              <a:rPr lang="en-US" sz="1200" dirty="0">
                <a:solidFill>
                  <a:srgbClr val="8A8A8A"/>
                </a:solidFill>
                <a:latin typeface="Consolas" pitchFamily="34" charset="0"/>
                <a:ea typeface="Consolas" pitchFamily="34" charset="-122"/>
                <a:cs typeface="Consolas" pitchFamily="34" charset="-120"/>
              </a:rPr>
              <a:t>Ambient 101 · ITP Camp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Ambient 101</dc:title>
  <dc:subject>PptxGenJS Presentation</dc:subject>
  <dc:creator>Willem Yarbrough</dc:creator>
  <cp:lastModifiedBy>Willem Yarbrough</cp:lastModifiedBy>
  <cp:revision>1</cp:revision>
  <dcterms:created xsi:type="dcterms:W3CDTF">2026-06-14T05:03:20Z</dcterms:created>
  <dcterms:modified xsi:type="dcterms:W3CDTF">2026-06-14T05:03:20Z</dcterms:modified>
</cp:coreProperties>
</file>